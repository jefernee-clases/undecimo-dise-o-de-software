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96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42030">
              <a:alpha val="70000"/>
            </a:srgbClr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097280"/>
            <a:ext cx="12801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920240"/>
            <a:ext cx="7315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0"/>
            <a:ext cx="1005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56616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05840"/>
            <a:ext cx="274320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DISEÑO GRÁFICO EN SOFTWARE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Gráfico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B6D4"/>
                </a:solidFill>
              </a:rPr>
              <a:t>Comunicación visual en sistemas de software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81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Undécimo Año  ·  Diseño de Software  ·  Clase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RA: Identificar los fundamentos del diseño gráfico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HOY VEREMOS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aprenderemos hoy?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¿Qué es el diseño gráfico?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Definición y su rol en software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54864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Principios CARP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Contraste · Alineación · Repetición · Proximidad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411480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46304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Tipografía y Color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Lectura, jerarquía y psicología del color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11480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1089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8348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Aplicación en interfaces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 la teoría al diseño de pantallas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es el diseño gráfico?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0F6FF"/>
                </a:solidFill>
              </a:rPr>
              <a:t>"El diseño gráfico es el arte de comunicar información de forma visual: organizar texto, imágenes y elementos para que el mensaje llegue claro, rápido y sin esfuerzo al usuario."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5603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25603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Comunica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429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Transmite información sin necesidad de texto extenso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926080"/>
            <a:ext cx="25603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926080"/>
            <a:ext cx="25603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Organiza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3429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8328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Estructura el contenido para que sea fácil de navegar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56032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926080"/>
            <a:ext cx="25603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Guía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429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Dirige la atención del usuario hacia lo más importante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CONTEXTO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¿Por qué importa en software?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29184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diseño gráfico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7F1D1D"/>
                </a:solidFill>
              </a:rPr>
              <a:t>Texto todo del mismo tamaño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7F1D1D"/>
                </a:solidFill>
              </a:rPr>
              <a:t>Sin estructura visual clara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7F1D1D"/>
                </a:solidFill>
              </a:rPr>
              <a:t>Colores que cansan la vista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7F1D1D"/>
                </a:solidFill>
              </a:rPr>
              <a:t>El usuario no sabe dónde hacer clic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7F1D1D"/>
                </a:solidFill>
              </a:rPr>
              <a:t>Información mezclada y confusa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3840480" cy="329184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 diseño gráfico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4532D"/>
                </a:solidFill>
              </a:rPr>
              <a:t>Jerarquía visual que guía al lector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4532D"/>
                </a:solidFill>
              </a:rPr>
              <a:t>Estructura clara y predecible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4532D"/>
                </a:solidFill>
              </a:rPr>
              <a:t>Paleta de colores armónica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4532D"/>
                </a:solidFill>
              </a:rPr>
              <a:t>Flujo intuitivo de navegación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r>
              <a:rPr lang="en-US" sz="1100" dirty="0">
                <a:solidFill>
                  <a:srgbClr val="14532D"/>
                </a:solidFill>
              </a:rPr>
              <a:t>Información organizada por bloques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24528" y="2606040"/>
            <a:ext cx="6858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VS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PRINCIPIOS CARP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Los 4 principios fundamentales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6908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6858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Contraste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901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Hacer que los elementos importantes DESTAQUEN sobre los demás. Sin contraste, nada llama la atención.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Ej: Título grande, cuerpo pequeño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6908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154680"/>
            <a:ext cx="6858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17320" y="3108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Alineación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564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Cada elemento debe tener una conexión visual con otro. Nada debe colocarse de forma aleatoria.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Ej: Columnas, bordes y márgenes alineados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406908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600200"/>
            <a:ext cx="6858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715000" y="1554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Repetición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1901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Repetir elementos visuales (colores, formas, tipografías) para crear unidad y coherencia.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242316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Ej: Mismo color de botones en toda la app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6908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154680"/>
            <a:ext cx="6858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715000" y="3108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Proximidad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34564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Agrupar elementos relacionados. Lo que está cerca se percibe como una unidad.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397764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Ej: Etiqueta junto a su campo de texto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CONTRASTE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Contraste: hacer que lo importante destaque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5603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⚠ Mal contraste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Título de pantalla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Este es el contenido principal del sistema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Guardar cambios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F4444"/>
                </a:solidFill>
              </a:rPr>
              <a:t>→ ¿Dónde está el botón? ¿Qué es el título?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36576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371600"/>
            <a:ext cx="3657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 Buen contraste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Título de pantalla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Este es el contenido principal del sistema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1463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Guardar cambios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0B981"/>
                </a:solidFill>
              </a:rPr>
              <a:t>→ Título, texto y botón claramente diferenciados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💡  Regla de contraste: 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40690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Si reduces el documento al 20% de su tamaño y aún podés identificar el elemento más importante, el contraste es correcto.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Tipografía: la voz del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7432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 Bb Cc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Times New Roman, Georgia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Tienen pequeños remates en los extremos de las letras. Transmiten formalidad y tradición. Ideales para texto impreso largo.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5603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</a:rPr>
              <a:t>Uso en software: documentos PDF, reportes formales.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325880"/>
            <a:ext cx="27432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Sans-Serif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Arial, Calibri, Roboto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Sin remates. Más limpias y legibles en pantalla. Son el estándar en interfaces digitales modernas.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3657600"/>
            <a:ext cx="25603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563EB"/>
                </a:solidFill>
              </a:rPr>
              <a:t>Uso en software: interfaces web, apps, botones, menús.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325880"/>
            <a:ext cx="274320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Monoespaciada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 Bb Cc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Consolas, Courier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Todos los caracteres tienen el mismo ancho. Fundamentales para mostrar código fuente y datos técnicos.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25603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</a:rPr>
              <a:t>Uso en software: editores de código, terminales, logs.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</a:rPr>
              <a:t>💡  Regla de oro:  Nunca uses más de 2 familias tipográficas distintas en la misma interfaz.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JERARQUÍA VISUAL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Jerarquía tipográfica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338328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Sistema de Notas Estudiantiles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Período: I Semestre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3657600" cy="9144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Matemáticas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</a:rPr>
              <a:t>92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Prof. Rodríguez  ·  8:00 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Español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108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</a:rPr>
              <a:t>85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Prof. Vargas  ·  10:00 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3657600" cy="9144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Promedio general: 88.5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Niveles en esta interfaz: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783080"/>
            <a:ext cx="13716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783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</a:rPr>
              <a:t>Nivel 1 — Título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19751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16–18 pt, bold, color destacado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377440"/>
            <a:ext cx="13716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</a:rPr>
              <a:t>Nivel 2 — Subtítulo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25694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10–12 pt, normal, color muted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971800"/>
            <a:ext cx="1371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Nivel 3 — Cuerpo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0" y="3163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13 pt, bold, blanco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1371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Nivel 4 — Datos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20640" y="37581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18 pt, bold, color semántico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4160520"/>
            <a:ext cx="13716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160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Nivel 5 — Meta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0640" y="43525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9 pt, normal, gris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4572000"/>
            <a:ext cx="402336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6B6D4"/>
                </a:solidFill>
              </a:rPr>
              <a:t>El usuario lee primero lo más grande y con más contraste.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COLOR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Teoría del color en interfaces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Pantalla usa RGB — Red, Green, Blue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Primarios: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10972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Rojo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2221992"/>
            <a:ext cx="109728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Verde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2221992"/>
            <a:ext cx="109728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Azul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Semánticos: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10972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Error / Peligro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3227832"/>
            <a:ext cx="10972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Advertencia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0" y="3227832"/>
            <a:ext cx="10972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</a:rPr>
              <a:t>Éxito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325880"/>
            <a:ext cx="4114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Psicología del color en interfaces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783080"/>
            <a:ext cx="411480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7830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Azul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19842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Confianza, seguridad, tecnología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368296"/>
            <a:ext cx="4114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368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Verde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256946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Éxito, aprobación, confirmación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953512"/>
            <a:ext cx="41148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953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Rojo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31546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Error, peligro, alerta crítica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538728"/>
            <a:ext cx="4114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5387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Amarillo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4920" y="373989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Advertencia, atención, energía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4123944"/>
            <a:ext cx="41148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41239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Morado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74920" y="432511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Creatividad, innovación, premium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</a:rPr>
              <a:t>💡  Contraste accesible WCAG 2.1:  El texto normal debe tener relación de contraste mínima de 4.5:1 respecto al fondo.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WIREFRAMES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Wireframes: diseñar antes de codificar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</a:rPr>
              <a:t>Un wireframe es un boceto de baja fidelidad que muestra la estructura y distribución de elementos en una pantalla, sin colores ni estilos finales.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931920" cy="2834640"/>
          </a:xfrm>
          <a:prstGeom prst="rect">
            <a:avLst/>
          </a:prstGeom>
          <a:solidFill>
            <a:srgbClr val="131F2E"/>
          </a:solidFill>
          <a:ln w="19050">
            <a:solidFill>
              <a:srgbClr val="2A3F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39319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029968"/>
            <a:ext cx="73152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029968"/>
            <a:ext cx="548640" cy="18288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029968"/>
            <a:ext cx="548640" cy="18288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77440"/>
            <a:ext cx="3749040" cy="457200"/>
          </a:xfrm>
          <a:prstGeom prst="rect">
            <a:avLst/>
          </a:prstGeom>
          <a:solidFill>
            <a:srgbClr val="162334"/>
          </a:solidFill>
          <a:ln w="12700">
            <a:solidFill>
              <a:srgbClr val="1623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41448"/>
            <a:ext cx="228600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06040"/>
            <a:ext cx="1645920" cy="9144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71800"/>
            <a:ext cx="150876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44952"/>
            <a:ext cx="1280160" cy="18288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91840"/>
            <a:ext cx="822960" cy="9144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429000"/>
            <a:ext cx="5486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0280" y="2971800"/>
            <a:ext cx="150876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3044952"/>
            <a:ext cx="1280160" cy="18288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3291840"/>
            <a:ext cx="822960" cy="9144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3429000"/>
            <a:ext cx="5486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749040"/>
            <a:ext cx="150876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822192"/>
            <a:ext cx="1280160" cy="18288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069080"/>
            <a:ext cx="822960" cy="9144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06240"/>
            <a:ext cx="5486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3749040"/>
            <a:ext cx="150876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3822192"/>
            <a:ext cx="1280160" cy="182880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31720" y="4069080"/>
            <a:ext cx="822960" cy="91440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4206240"/>
            <a:ext cx="54864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280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Wireframe — Vista de inicio (baja fidelidad)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¿Por qué hacer wireframes?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2423160"/>
            <a:ext cx="420624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423160"/>
            <a:ext cx="41148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4231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2487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Define estructura sin perder tiempo en estilos visuales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081528"/>
            <a:ext cx="420624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081528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08152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66360" y="31455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Permite validar el flujo con el cliente antes de programar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3739896"/>
            <a:ext cx="420624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739896"/>
            <a:ext cx="41148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73989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66360" y="38039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Detecta problemas de usabilidad de forma temprana y barata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4398264"/>
            <a:ext cx="420624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4398264"/>
            <a:ext cx="41148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39826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66360" y="4462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 puede hacer en papel, Figma, draw.io o incluso Word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APLICACIÓN REAL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¿Cómo se aplica en sistemas reales?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10312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Sistema de notas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AAAA"/>
                </a:solidFill>
              </a:rPr>
              <a:t>Contraste + Jerarquía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97480" y="139903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</a:rPr>
              <a:t>✗  Todos los números con el mismo tamaño. No se sabe cuál es la nota final.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0" y="13990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532D"/>
                </a:solidFill>
              </a:rPr>
              <a:t>✓  Nota final grande y en color (verde/rojo). Materias en negrita. Fechas en gris pequeño.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9144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210312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Formulario de registro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53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AAAA"/>
                </a:solidFill>
              </a:rPr>
              <a:t>Proximidad + Alineación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97480" y="25877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</a:rPr>
              <a:t>✗  Etiquetas separadas de campos. Sin orden. Botón perdido.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77840" y="25877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532D"/>
                </a:solidFill>
              </a:rPr>
              <a:t>✓  Etiqueta pegada sobre su campo. Columna única alineada. Botón 'Registrar' grande y destacado.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2606040"/>
            <a:ext cx="9144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03320"/>
            <a:ext cx="21031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Panel de administración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422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AAAA"/>
                </a:solidFill>
              </a:rPr>
              <a:t>Repetición + Color semántico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377647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</a:rPr>
              <a:t>✗  Botones con colores distintos en cada pantalla. Total inconsistencia visual.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77840" y="37764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532D"/>
                </a:solidFill>
              </a:rPr>
              <a:t>✓  Rojo = eliminar. Verde = confirmar. Azul = navegación. Mismo estilo en todas las vistas.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3794760"/>
            <a:ext cx="9144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ACTIVIDAD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Actividad: Auditoría Visual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89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📋  Instrucción: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38988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En parejas, observen las dos interfaces proyectadas. Usen la lista de verificación para identificar qué principios se cumplen y cuáles se violan en cada una. Tiempo: 10 minutos.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Lista de verificación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084832"/>
            <a:ext cx="1828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⏱  10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82296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69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Contraste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¿El texto principal destaca claramente sobre el fondo?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402336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18688"/>
            <a:ext cx="82296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73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Alineación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¿Los elementos siguen una línea o cuadrícula ordenada?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402336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22776"/>
            <a:ext cx="82296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Repetición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97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¿Colores y estilos de botones son consistentes en toda la app?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402336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514600"/>
            <a:ext cx="82296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69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Proximidad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¿Las etiquetas están junto a los campos que describen?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218688"/>
            <a:ext cx="402336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218688"/>
            <a:ext cx="82296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73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Tipografía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¿Se usan máximo 2 tipografías? ¿Es legible en pantalla?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922776"/>
            <a:ext cx="4023360" cy="59436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922776"/>
            <a:ext cx="82296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Color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197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¿El rojo indica error? ¿El verde, éxito? ¿Los colores comunican algo?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PROBLEMÁTICA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Situación problema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📌  Escenario: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Una institución educativa digitalizó la entrega de calificaciones. El equipo de desarrollo presentó la pantalla, pero los padres de familia reportan los siguientes problemas: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💬  "No entiendo cuál es la nota final de mi hijo."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3500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💬  "Los colores de aprobado y reprobado se ven igual."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55117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💬  "No sé qué botón presionar para ver el siguiente período."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Preguntas para analizar en clase: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41148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355848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¿Cuáles de los 4 principios CARP se están violando? Justifiquen con detalle.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411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904488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Propongan al menos 3 cambios de diseño concretos usando los principios vistos en clase.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389120"/>
            <a:ext cx="4114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89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453128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Expliquen cómo cada cambio mejora la comunicación visual del sistema para los padres.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RECURSOS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¿Dónde seguir aprendiendo?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15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715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Laws of UX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EB"/>
                </a:solidFill>
              </a:rPr>
              <a:t>lawsofux.com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23317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Leyes del diseño en tarjetas visuales. Referencia rápida y elegante.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55848" y="1325880"/>
            <a:ext cx="2715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325880"/>
            <a:ext cx="27157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46304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47288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Canva Design School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21488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6B6D4"/>
                </a:solidFill>
              </a:rPr>
              <a:t>designschool.canva.com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38728" y="2359152"/>
            <a:ext cx="23317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4048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Guías visuales sobre color, tipografía y composición. Gratuito.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45352" y="1325880"/>
            <a:ext cx="2715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1325880"/>
            <a:ext cx="27157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46304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36792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Google Material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36792" y="21488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0B981"/>
                </a:solidFill>
              </a:rPr>
              <a:t>m3.material.io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28232" y="2359152"/>
            <a:ext cx="23317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4048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Guía oficial de Google. Principios aplicados en productos reales.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2715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46120"/>
            <a:ext cx="2715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8328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Nielsen Norman Group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0690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59E0B"/>
                </a:solidFill>
              </a:rPr>
              <a:t>nngroup.com/articles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4279392"/>
            <a:ext cx="23317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25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Artículos cortos sobre UX con evidencia científica.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55848" y="3246120"/>
            <a:ext cx="2715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55848" y="3246120"/>
            <a:ext cx="271576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338328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447288" y="3794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Google Design (YouTube)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47288" y="40690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F4444"/>
                </a:solidFill>
              </a:rPr>
              <a:t>youtube.com/@GoogleDesign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538728" y="4279392"/>
            <a:ext cx="23317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4325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Charlas de diseñadores reales. Muy visual para ver en clase.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45352" y="3246120"/>
            <a:ext cx="27157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45352" y="3246120"/>
            <a:ext cx="2715768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3383280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336792" y="37947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Figma (gratuito)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36792" y="40690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5CF6"/>
                </a:solidFill>
              </a:rPr>
              <a:t>figma.com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28232" y="4279392"/>
            <a:ext cx="23317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4325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Herramienta profesional de interfaces. Funciona en el navegador.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Resumen de la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</a:rPr>
              <a:t>Fundamentos del diseño gráfico en la comunicación visual de sistemas de software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76072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5760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El diseño gráfico comunica, organiza y guía al usuario sin necesidad de instrucciones escritas.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8229600" cy="576072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93976"/>
            <a:ext cx="502920" cy="576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93976"/>
            <a:ext cx="502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15798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Los principios CARP (Contraste, Alineación, Repetición, Proximidad) son la base del buen diseño.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8229600" cy="576072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70632"/>
            <a:ext cx="502920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0632"/>
            <a:ext cx="502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La tipografía define legibilidad y jerarquía visual. Máximo 2 familias por interfaz.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47288"/>
            <a:ext cx="8229600" cy="576072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47288"/>
            <a:ext cx="502920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47288"/>
            <a:ext cx="502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51129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El color en pantalla es RGB. Cada color tiene un significado semántico en las interfaces.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23944"/>
            <a:ext cx="8229600" cy="576072"/>
          </a:xfrm>
          <a:prstGeom prst="rect">
            <a:avLst/>
          </a:prstGeom>
          <a:solidFill>
            <a:srgbClr val="1E2D40"/>
          </a:solidFill>
          <a:ln w="12700">
            <a:solidFill>
              <a:srgbClr val="2A3F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23944"/>
            <a:ext cx="502920" cy="576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23944"/>
            <a:ext cx="502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18795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Los wireframes permiten planificar la estructura antes de codificar, evitando errores costosos.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6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</a:rPr>
              <a:t>Próxima</a:t>
            </a:r>
            <a:r>
              <a:rPr lang="en-US" sz="1050" dirty="0">
                <a:solidFill>
                  <a:srgbClr val="FFFFFF"/>
                </a:solidFill>
              </a:rPr>
              <a:t> </a:t>
            </a:r>
            <a:r>
              <a:rPr lang="en-US" sz="1050" dirty="0" err="1">
                <a:solidFill>
                  <a:srgbClr val="FFFFFF"/>
                </a:solidFill>
              </a:rPr>
              <a:t>clase</a:t>
            </a:r>
            <a:r>
              <a:rPr lang="en-US" sz="1050" dirty="0">
                <a:solidFill>
                  <a:srgbClr val="FFFFFF"/>
                </a:solidFill>
              </a:rPr>
              <a:t>:  </a:t>
            </a:r>
            <a:r>
              <a:rPr lang="en-US" sz="1050" dirty="0" err="1">
                <a:solidFill>
                  <a:srgbClr val="FFFFFF"/>
                </a:solidFill>
              </a:rPr>
              <a:t>Jerarquía</a:t>
            </a:r>
            <a:r>
              <a:rPr lang="en-US" sz="1050" dirty="0">
                <a:solidFill>
                  <a:srgbClr val="FFFFFF"/>
                </a:solidFill>
              </a:rPr>
              <a:t> visual y </a:t>
            </a:r>
            <a:r>
              <a:rPr lang="en-US" sz="1050" dirty="0" err="1">
                <a:solidFill>
                  <a:srgbClr val="FFFFFF"/>
                </a:solidFill>
              </a:rPr>
              <a:t>composición</a:t>
            </a:r>
            <a:r>
              <a:rPr lang="en-US" sz="1050" dirty="0">
                <a:solidFill>
                  <a:srgbClr val="FFFFFF"/>
                </a:solidFill>
              </a:rPr>
              <a:t> de interfaces — </a:t>
            </a:r>
            <a:r>
              <a:rPr lang="en-US" sz="1050" dirty="0" err="1">
                <a:solidFill>
                  <a:srgbClr val="FFFFFF"/>
                </a:solidFill>
              </a:rPr>
              <a:t>traer</a:t>
            </a:r>
            <a:r>
              <a:rPr lang="en-US" sz="1050" dirty="0">
                <a:solidFill>
                  <a:srgbClr val="FFFFFF"/>
                </a:solidFill>
              </a:rPr>
              <a:t> 2 </a:t>
            </a:r>
            <a:r>
              <a:rPr lang="en-US" sz="1050" dirty="0" err="1">
                <a:solidFill>
                  <a:srgbClr val="FFFFFF"/>
                </a:solidFill>
              </a:rPr>
              <a:t>capturas</a:t>
            </a:r>
            <a:r>
              <a:rPr lang="en-US" sz="1050" dirty="0">
                <a:solidFill>
                  <a:srgbClr val="FFFFFF"/>
                </a:solidFill>
              </a:rPr>
              <a:t> de </a:t>
            </a:r>
            <a:r>
              <a:rPr lang="en-US" sz="1050" dirty="0" err="1">
                <a:solidFill>
                  <a:srgbClr val="FFFFFF"/>
                </a:solidFill>
              </a:rPr>
              <a:t>pantalla</a:t>
            </a:r>
            <a:r>
              <a:rPr lang="en-US" sz="1050" dirty="0">
                <a:solidFill>
                  <a:srgbClr val="FFFFFF"/>
                </a:solidFill>
              </a:rPr>
              <a:t> </a:t>
            </a:r>
            <a:r>
              <a:rPr lang="en-US" sz="1050" dirty="0" err="1">
                <a:solidFill>
                  <a:srgbClr val="FFFFFF"/>
                </a:solidFill>
              </a:rPr>
              <a:t>una</a:t>
            </a:r>
            <a:r>
              <a:rPr lang="en-US" sz="1050" dirty="0">
                <a:solidFill>
                  <a:srgbClr val="FFFFFF"/>
                </a:solidFill>
              </a:rPr>
              <a:t> </a:t>
            </a:r>
            <a:r>
              <a:rPr lang="en-US" sz="1050" dirty="0" err="1">
                <a:solidFill>
                  <a:srgbClr val="FFFFFF"/>
                </a:solidFill>
              </a:rPr>
              <a:t>que</a:t>
            </a:r>
            <a:r>
              <a:rPr lang="en-US" sz="1050" dirty="0">
                <a:solidFill>
                  <a:srgbClr val="FFFFFF"/>
                </a:solidFill>
              </a:rPr>
              <a:t> se </a:t>
            </a:r>
            <a:r>
              <a:rPr lang="en-US" sz="1050" dirty="0" err="1">
                <a:solidFill>
                  <a:srgbClr val="FFFFFF"/>
                </a:solidFill>
              </a:rPr>
              <a:t>cumple</a:t>
            </a:r>
            <a:r>
              <a:rPr lang="en-US" sz="1050" dirty="0">
                <a:solidFill>
                  <a:srgbClr val="FFFFFF"/>
                </a:solidFill>
              </a:rPr>
              <a:t> CARP y </a:t>
            </a:r>
            <a:r>
              <a:rPr lang="en-US" sz="1050" dirty="0" err="1">
                <a:solidFill>
                  <a:srgbClr val="FFFFFF"/>
                </a:solidFill>
              </a:rPr>
              <a:t>otra</a:t>
            </a:r>
            <a:r>
              <a:rPr lang="en-US" sz="1050" dirty="0">
                <a:solidFill>
                  <a:srgbClr val="FFFFFF"/>
                </a:solidFill>
              </a:rPr>
              <a:t> mal.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1511</Words>
  <Application>Microsoft Office PowerPoint</Application>
  <PresentationFormat>Presentación en pantalla (16:9)</PresentationFormat>
  <Paragraphs>270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del Diseño Gráfico en Software</dc:title>
  <dc:subject>PptxGenJS Presentation</dc:subject>
  <dc:creator>PptxGenJS</dc:creator>
  <cp:lastModifiedBy>antoyefruizg04@gmail.com</cp:lastModifiedBy>
  <cp:revision>2</cp:revision>
  <dcterms:created xsi:type="dcterms:W3CDTF">2026-03-05T19:05:50Z</dcterms:created>
  <dcterms:modified xsi:type="dcterms:W3CDTF">2026-03-05T19:29:43Z</dcterms:modified>
</cp:coreProperties>
</file>