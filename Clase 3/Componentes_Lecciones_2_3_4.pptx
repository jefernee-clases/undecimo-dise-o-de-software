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2D3581">
              <a:alpha val="40000"/>
            </a:srgbClr>
          </a:solidFill>
          <a:ln w="12700">
            <a:solidFill>
              <a:srgbClr val="2D3581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560320"/>
            <a:ext cx="1828800" cy="1828800"/>
          </a:xfrm>
          <a:prstGeom prst="ellipse">
            <a:avLst/>
          </a:prstGeom>
          <a:solidFill>
            <a:srgbClr val="5B3FA0">
              <a:alpha val="30000"/>
            </a:srgbClr>
          </a:solidFill>
          <a:ln w="12700">
            <a:solidFill>
              <a:srgbClr val="5B3FA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1148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11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LECCIÓN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Diseño de Componentes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Basados en Clases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B8EC4"/>
                </a:solidFill>
              </a:rPr>
              <a:t>De la teoría a la práctica: cómo estructurar clases bien diseñadas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2152E"/>
          </a:solidFill>
          <a:ln w="12700">
            <a:solidFill>
              <a:srgbClr val="1215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B8EC4"/>
                </a:solidFill>
              </a:rPr>
              <a:t>11° Año  |  Diseño de Software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8EC4"/>
                </a:solidFill>
              </a:rPr>
              <a:t>Diseño en el Nivel de Componentes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F4B"/>
          </a:solidFill>
          <a:ln w="12700">
            <a:solidFill>
              <a:srgbClr val="1A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¿Qué es el diseño OO de componentes?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822960"/>
          </a:xfrm>
          <a:prstGeom prst="rect">
            <a:avLst/>
          </a:prstGeom>
          <a:solidFill>
            <a:srgbClr val="2D3581"/>
          </a:solidFill>
          <a:ln w="12700">
            <a:solidFill>
              <a:srgbClr val="2D35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686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En la visión orientada a objetos, un componente = conjunto de clases colaborativas.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Diseñar un componente OO significa definir CÓMO esas clases se estructuran y relacionan.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B8E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920240"/>
            <a:ext cx="2651760" cy="475488"/>
          </a:xfrm>
          <a:prstGeom prst="rect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9202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📐  Identificar clases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2487168"/>
            <a:ext cx="2432304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F4B"/>
                </a:solidFill>
              </a:rPr>
              <a:t>¿Qué entidades del problema real se convierten en clases?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1F4B"/>
                </a:solidFill>
              </a:rPr>
              <a:t>Ej: Alumno, Curso, Nota, Profesor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154680" y="192024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B8E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920240"/>
            <a:ext cx="2651760" cy="475488"/>
          </a:xfrm>
          <a:prstGeom prst="rect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9202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🔗  Definir relaciones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64408" y="2487168"/>
            <a:ext cx="2432304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F4B"/>
                </a:solidFill>
              </a:rPr>
              <a:t>¿Cómo se relacionan entre sí?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1F4B"/>
                </a:solidFill>
              </a:rPr>
              <a:t>Herencia, composición, asociación, dependencia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89320" y="192024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B8E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1920240"/>
            <a:ext cx="2651760" cy="475488"/>
          </a:xfrm>
          <a:prstGeom prst="rect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19202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 Especificar interfaces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99048" y="2487168"/>
            <a:ext cx="2432304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F4B"/>
                </a:solidFill>
              </a:rPr>
              <a:t>¿Qué métodos y atributos expone cada clase al exterior?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1F4B"/>
                </a:solidFill>
              </a:rPr>
              <a:t>Principios: visibilidad y contratos claros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3581"/>
                </a:solidFill>
              </a:rPr>
              <a:t>💡  El objetivo: clases con alta cohesión, bajo acoplamiento e interfaces bien definidas.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F4B"/>
          </a:solidFill>
          <a:ln w="12700">
            <a:solidFill>
              <a:srgbClr val="1A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Principios de diseño de clases — SOLID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566928" cy="658368"/>
          </a:xfrm>
          <a:prstGeom prst="rect">
            <a:avLst/>
          </a:prstGeom>
          <a:solidFill>
            <a:srgbClr val="3CB98F"/>
          </a:solidFill>
          <a:ln w="12700">
            <a:solidFill>
              <a:srgbClr val="3CB9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04672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04672"/>
            <a:ext cx="2286000" cy="658368"/>
          </a:xfrm>
          <a:prstGeom prst="rect">
            <a:avLst/>
          </a:prstGeom>
          <a:solidFill>
            <a:srgbClr val="3CB98F">
              <a:alpha val="15000"/>
            </a:srgbClr>
          </a:solidFill>
          <a:ln w="12700">
            <a:solidFill>
              <a:srgbClr val="3CB98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0467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4B"/>
                </a:solidFill>
              </a:rPr>
              <a:t>Single Responsibility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0" y="841248"/>
            <a:ext cx="54864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F4B"/>
                </a:solidFill>
              </a:rPr>
              <a:t>Una clase = UNA sola responsabilidad.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1F4B"/>
                </a:solidFill>
              </a:rPr>
              <a:t>Si cambia por dos razones distintas, debe dividirse.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609344"/>
            <a:ext cx="566928" cy="658368"/>
          </a:xfrm>
          <a:prstGeom prst="rect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609344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960120" y="1609344"/>
            <a:ext cx="2286000" cy="658368"/>
          </a:xfrm>
          <a:prstGeom prst="rect">
            <a:avLst/>
          </a:prstGeom>
          <a:solidFill>
            <a:srgbClr val="5B3FA0">
              <a:alpha val="15000"/>
            </a:srgbClr>
          </a:solidFill>
          <a:ln w="12700">
            <a:solidFill>
              <a:srgbClr val="5B3F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60934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4B"/>
                </a:solidFill>
              </a:rPr>
              <a:t>Open / Closed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645920"/>
            <a:ext cx="54864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F4B"/>
                </a:solidFill>
              </a:rPr>
              <a:t>Abierto para extender, cerrado para modificar.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1F4B"/>
                </a:solidFill>
              </a:rPr>
              <a:t>Agregar funcionalidad sin romper lo que ya funciona.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414016"/>
            <a:ext cx="566928" cy="658368"/>
          </a:xfrm>
          <a:prstGeom prst="rect">
            <a:avLst/>
          </a:prstGeom>
          <a:solidFill>
            <a:srgbClr val="2D6EBF"/>
          </a:solidFill>
          <a:ln w="12700">
            <a:solidFill>
              <a:srgbClr val="2D6E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414016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60120" y="2414016"/>
            <a:ext cx="2286000" cy="658368"/>
          </a:xfrm>
          <a:prstGeom prst="rect">
            <a:avLst/>
          </a:prstGeom>
          <a:solidFill>
            <a:srgbClr val="2D6EBF">
              <a:alpha val="15000"/>
            </a:srgbClr>
          </a:solidFill>
          <a:ln w="12700">
            <a:solidFill>
              <a:srgbClr val="2D6EB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241401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4B"/>
                </a:solidFill>
              </a:rPr>
              <a:t>Liskov Substitution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2450592"/>
            <a:ext cx="54864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F4B"/>
                </a:solidFill>
              </a:rPr>
              <a:t>Una subclase debe poder reemplazar a su clase padre.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1F4B"/>
                </a:solidFill>
              </a:rPr>
              <a:t>Sin cambiar el comportamiento esperado.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3218688"/>
            <a:ext cx="566928" cy="658368"/>
          </a:xfrm>
          <a:prstGeom prst="rect">
            <a:avLst/>
          </a:prstGeom>
          <a:solidFill>
            <a:srgbClr val="E08A3C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218688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960120" y="3218688"/>
            <a:ext cx="2286000" cy="658368"/>
          </a:xfrm>
          <a:prstGeom prst="rect">
            <a:avLst/>
          </a:prstGeom>
          <a:solidFill>
            <a:srgbClr val="E08A3C">
              <a:alpha val="15000"/>
            </a:srgbClr>
          </a:solidFill>
          <a:ln w="12700">
            <a:solidFill>
              <a:srgbClr val="E08A3C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21868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4B"/>
                </a:solidFill>
              </a:rPr>
              <a:t>Interface Segregation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3255264"/>
            <a:ext cx="54864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F4B"/>
                </a:solidFill>
              </a:rPr>
              <a:t>Muchas interfaces específicas &gt; una interfaz general.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1F4B"/>
                </a:solidFill>
              </a:rPr>
              <a:t>No obligar a implementar métodos que no se usan.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4023360"/>
            <a:ext cx="566928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023360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960120" y="4023360"/>
            <a:ext cx="2286000" cy="658368"/>
          </a:xfrm>
          <a:prstGeom prst="rect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40233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4B"/>
                </a:solidFill>
              </a:rPr>
              <a:t>Dependency Inversion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4059936"/>
            <a:ext cx="54864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F4B"/>
                </a:solidFill>
              </a:rPr>
              <a:t>Depender de abstracciones, no de implementaciones.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1F4B"/>
                </a:solidFill>
              </a:rPr>
              <a:t>Reducir el acoplamiento entre módulos.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SOLID en código — S y O (los más comunes en clase)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4160520"/>
          </a:xfrm>
          <a:prstGeom prst="rect">
            <a:avLst/>
          </a:prstGeom>
          <a:solidFill>
            <a:srgbClr val="1E224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4023360" cy="438912"/>
          </a:xfrm>
          <a:prstGeom prst="rect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 — Single Responsibility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3749040" cy="3547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❌ MALO: una clase hace todo
</a:t>
            </a:r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Alumno: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calcular_promedio(): ...
  def guardar_en_bd(): ...
  def enviar_correo(): ...
  def generar_pdf(): ...
</a:t>
            </a:r>
            <a:pPr indent="0" marL="0">
              <a:buNone/>
            </a:pPr>
            <a:r>
              <a:rPr lang="en-US" sz="1050" b="1" dirty="0">
                <a:solidFill>
                  <a:srgbClr val="3CB9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BUENO: cada clase = 1 trabajo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Alumno: 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RepositorioAlumno: 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ServicioCorreo: 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GeneradorPDF: ...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777240"/>
            <a:ext cx="4023360" cy="4160520"/>
          </a:xfrm>
          <a:prstGeom prst="rect">
            <a:avLst/>
          </a:prstGeom>
          <a:solidFill>
            <a:srgbClr val="1E2240"/>
          </a:solidFill>
          <a:ln w="12700">
            <a:solidFill>
              <a:srgbClr val="3CB9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777240"/>
            <a:ext cx="4023360" cy="438912"/>
          </a:xfrm>
          <a:prstGeom prst="rect">
            <a:avLst/>
          </a:prstGeom>
          <a:solidFill>
            <a:srgbClr val="3CB98F"/>
          </a:solidFill>
          <a:ln w="12700">
            <a:solidFill>
              <a:srgbClr val="3CB9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77724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 — Open / Closed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298448"/>
            <a:ext cx="3749040" cy="3547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❌ MALO: modificar para extender
</a:t>
            </a:r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calcular_area(figura):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figura == 'circulo': ...
  if figura == 'cuadrado': ...
  # ¡hay que editar aquí siempre!
</a:t>
            </a:r>
            <a:pPr indent="0" marL="0">
              <a:buNone/>
            </a:pPr>
            <a:r>
              <a:rPr lang="en-US" sz="1050" b="1" dirty="0">
                <a:solidFill>
                  <a:srgbClr val="3CB9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BUENO: extender sin modificar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Figura: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area(): 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Circulo(Figura): 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Cuadrado(Figura): 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Nueva figura = nueva clase ✓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F4B"/>
          </a:solidFill>
          <a:ln w="12700">
            <a:solidFill>
              <a:srgbClr val="1A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Diagramas de clase UML — Herramienta del diseño OO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F4B"/>
                </a:solidFill>
              </a:rPr>
              <a:t>El diagrama de clase UML es el lenguaje universal para representar el diseño de componentes OO antes de escribir código.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560320" cy="411480"/>
          </a:xfrm>
          <a:prstGeom prst="rect">
            <a:avLst/>
          </a:prstGeom>
          <a:solidFill>
            <a:srgbClr val="2D3581"/>
          </a:solidFill>
          <a:ln w="12700">
            <a:solidFill>
              <a:srgbClr val="2D35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Alumno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25603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2D35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47088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nombre: str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notas: list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59152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numero: int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642616"/>
            <a:ext cx="2560320" cy="859536"/>
          </a:xfrm>
          <a:prstGeom prst="rect">
            <a:avLst/>
          </a:prstGeom>
          <a:solidFill>
            <a:srgbClr val="EDEAF8"/>
          </a:solidFill>
          <a:ln w="12700">
            <a:solidFill>
              <a:srgbClr val="2D35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79192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agregar_nota(n)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935224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promedio(): float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191256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get_nombre(): str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1371600"/>
            <a:ext cx="2560320" cy="411480"/>
          </a:xfrm>
          <a:prstGeom prst="rect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Curso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91840" y="1783080"/>
            <a:ext cx="25603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2D35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847088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nombre: str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2103120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codigo: str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2359152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alumnos: list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2642616"/>
            <a:ext cx="2560320" cy="859536"/>
          </a:xfrm>
          <a:prstGeom prst="rect">
            <a:avLst/>
          </a:prstGeom>
          <a:solidFill>
            <a:srgbClr val="EDEAF8"/>
          </a:solidFill>
          <a:ln w="12700">
            <a:solidFill>
              <a:srgbClr val="2D35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679192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inscribir(alumno)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2935224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listar_alumnos()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83280" y="3191256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promedio_curso()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1371600"/>
            <a:ext cx="2560320" cy="411480"/>
          </a:xfrm>
          <a:prstGeom prst="rect">
            <a:avLst/>
          </a:prstGeom>
          <a:solidFill>
            <a:srgbClr val="3CB98F"/>
          </a:solidFill>
          <a:ln w="12700">
            <a:solidFill>
              <a:srgbClr val="3CB9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Profesor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920" y="1783080"/>
            <a:ext cx="25603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2D35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1847088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nombre: str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2103120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especialidad: str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2386584"/>
            <a:ext cx="2560320" cy="859536"/>
          </a:xfrm>
          <a:prstGeom prst="rect">
            <a:avLst/>
          </a:prstGeom>
          <a:solidFill>
            <a:srgbClr val="EDEAF8"/>
          </a:solidFill>
          <a:ln w="12700">
            <a:solidFill>
              <a:srgbClr val="2D35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423160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asignar_curso(c)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9360" y="2679192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registrar_nota(a,n)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2935224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ver_alumnos()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926080" y="2194560"/>
            <a:ext cx="3657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52160" y="2194560"/>
            <a:ext cx="3657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384048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B8E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8640" y="38953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4B"/>
                </a:solidFill>
              </a:rPr>
              <a:t>Relaciones UML: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4206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─  Asociación (usa / conoce)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651760" y="4206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B"/>
                </a:solidFill>
              </a:rPr>
              <a:t>◆  Composición (contiene / parte de)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54880" y="4206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3FA0"/>
                </a:solidFill>
              </a:rPr>
              <a:t>△  Herencia (es un tipo de)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858000" y="4206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B98F"/>
                </a:solidFill>
              </a:rPr>
              <a:t>⋯  Dependencia (depende de)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CB98F"/>
          </a:solidFill>
          <a:ln w="12700">
            <a:solidFill>
              <a:srgbClr val="3CB9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1A1F4B">
              <a:alpha val="60000"/>
            </a:srgbClr>
          </a:solidFill>
          <a:ln w="12700">
            <a:solidFill>
              <a:srgbClr val="1A1F4B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3CB98F"/>
          </a:solidFill>
          <a:ln w="12700">
            <a:solidFill>
              <a:srgbClr val="3CB9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52E"/>
                </a:solidFill>
              </a:rPr>
              <a:t>LECCIÓN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Principios y Lineamientos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 Diseño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CB98F"/>
                </a:solidFill>
              </a:rPr>
              <a:t>Reglas prácticas para tomar mejores decisiones de diseño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1F4B"/>
          </a:solidFill>
          <a:ln w="12700">
            <a:solidFill>
              <a:srgbClr val="1A1F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CB98F"/>
                </a:solidFill>
              </a:rPr>
              <a:t>11° Año  |  Diseño de Software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CB98F"/>
                </a:solidFill>
              </a:rPr>
              <a:t>Diseño en el Nivel de Componentes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5C44"/>
          </a:solidFill>
          <a:ln w="12700">
            <a:solidFill>
              <a:srgbClr val="1E5C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Lineamientos de diseño — Nivel de componentes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75488" cy="658368"/>
          </a:xfrm>
          <a:prstGeom prst="rect">
            <a:avLst/>
          </a:prstGeom>
          <a:solidFill>
            <a:srgbClr val="2D6EBF"/>
          </a:solidFill>
          <a:ln w="12700">
            <a:solidFill>
              <a:srgbClr val="2D6E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04672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804672"/>
            <a:ext cx="79735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D6EB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83210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EBF"/>
                </a:solidFill>
              </a:rPr>
              <a:t>Nombra las clases con sustantivos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106424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B"/>
                </a:solidFill>
              </a:rPr>
              <a:t>Las clases representan entidades: Alumno, Factura, Pedido.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4B"/>
                </a:solidFill>
              </a:rPr>
              <a:t>Los métodos usan verbos: calcular(), guardar(), validar().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627632"/>
            <a:ext cx="475488" cy="658368"/>
          </a:xfrm>
          <a:prstGeom prst="rect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627632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1627632"/>
            <a:ext cx="79735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3FA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165506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3FA0"/>
                </a:solidFill>
              </a:rPr>
              <a:t>Define la interfaz antes de implementar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1929384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B"/>
                </a:solidFill>
              </a:rPr>
              <a:t>Decide qué servicios ofrece la clase (métodos públicos) antes de escribir el código interno.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450592"/>
            <a:ext cx="475488" cy="658368"/>
          </a:xfrm>
          <a:prstGeom prst="rect">
            <a:avLst/>
          </a:prstGeom>
          <a:solidFill>
            <a:srgbClr val="3CB98F"/>
          </a:solidFill>
          <a:ln w="12700">
            <a:solidFill>
              <a:srgbClr val="3CB9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450592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" y="2450592"/>
            <a:ext cx="79735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3CB98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247802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B98F"/>
                </a:solidFill>
              </a:rPr>
              <a:t>Minimiza la colaboración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752344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B"/>
                </a:solidFill>
              </a:rPr>
              <a:t>Cada componente debería conocer solo lo que necesita. Ley de Demeter: habla solo con tus vecinos directos.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273552"/>
            <a:ext cx="475488" cy="658368"/>
          </a:xfrm>
          <a:prstGeom prst="rect">
            <a:avLst/>
          </a:prstGeom>
          <a:solidFill>
            <a:srgbClr val="E08A3C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273552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68680" y="3273552"/>
            <a:ext cx="79735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8A3C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05840" y="330098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A3C"/>
                </a:solidFill>
              </a:rPr>
              <a:t>Prefiere composición sobre herencia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575304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B"/>
                </a:solidFill>
              </a:rPr>
              <a:t>En lugar de heredar comportamiento, incluye objetos dentro. Más flexible, menos frágil.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096512"/>
            <a:ext cx="475488" cy="65836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096512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68680" y="4096512"/>
            <a:ext cx="79735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5252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05840" y="412394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252"/>
                </a:solidFill>
              </a:rPr>
              <a:t>Mantén las clases pequeñas y enfocadas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4398264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B"/>
                </a:solidFill>
              </a:rPr>
              <a:t>Si una clase ocupa más de una pantalla, probablemente está haciendo demasiado.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5C44"/>
          </a:solidFill>
          <a:ln w="12700">
            <a:solidFill>
              <a:srgbClr val="1E5C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Ley de Demeter — "No hables con extraños"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B98F"/>
                </a:solidFill>
              </a:rPr>
              <a:t>Un método solo debería llamar a métodos de: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CB98F"/>
                </a:solidFill>
              </a:rPr>
              <a:t>  1. Su propia clase    2. Sus parámetros    3. Sus atributos    4. Objetos que crea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81328"/>
            <a:ext cx="4114800" cy="3383280"/>
          </a:xfrm>
          <a:prstGeom prst="rect">
            <a:avLst/>
          </a:prstGeom>
          <a:solidFill>
            <a:srgbClr val="1E2240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81328"/>
            <a:ext cx="4114800" cy="41148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813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❌  MALO — Cadena de puntos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1975104"/>
            <a:ext cx="3749040" cy="2816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Reporte: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generar(self, pedido):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Cadena peligrosa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ciudad =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pedido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.get_cliente()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.get_direccion()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.get_ciudad()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.get_nombre()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Reporte conoce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demasiado de Pedido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481328"/>
            <a:ext cx="4114800" cy="3383280"/>
          </a:xfrm>
          <a:prstGeom prst="rect">
            <a:avLst/>
          </a:prstGeom>
          <a:solidFill>
            <a:srgbClr val="1E2240"/>
          </a:solidFill>
          <a:ln w="12700">
            <a:solidFill>
              <a:srgbClr val="3CB9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481328"/>
            <a:ext cx="4114800" cy="411480"/>
          </a:xfrm>
          <a:prstGeom prst="rect">
            <a:avLst/>
          </a:prstGeom>
          <a:solidFill>
            <a:srgbClr val="3CB98F"/>
          </a:solidFill>
          <a:ln w="12700">
            <a:solidFill>
              <a:srgbClr val="3CB9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4813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✅  BUENO — Solo un nivel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92040" y="1975104"/>
            <a:ext cx="3749040" cy="2816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Pedido: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get_ciudad_cliente(self):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self.cliente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.get_ciudad()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Reporte: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generar(self, pedido):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Solo un punto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ciudad = pedido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.get_ciudad_cliente()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5C44"/>
          </a:solidFill>
          <a:ln w="12700">
            <a:solidFill>
              <a:srgbClr val="1E5C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Composición vs Herencia — ¿Cuándo usar cada una?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690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D35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069080" cy="457200"/>
          </a:xfrm>
          <a:prstGeom prst="rect">
            <a:avLst/>
          </a:prstGeom>
          <a:solidFill>
            <a:srgbClr val="2D3581"/>
          </a:solidFill>
          <a:ln w="12700">
            <a:solidFill>
              <a:srgbClr val="2D35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🧬  HERENCIA  ("es un tipo de")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53312"/>
            <a:ext cx="365760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Perro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es un tipo de </a:t>
            </a:r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</a:rPr>
              <a:t>Animal
</a:t>
            </a:r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Cuadrado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es un tipo de </a:t>
            </a:r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</a:rPr>
              <a:t>Figura
</a:t>
            </a:r>
            <a:pPr indent="0" marL="0">
              <a:buNone/>
            </a:pPr>
            <a:r>
              <a:rPr lang="en-US" sz="1200" b="1" dirty="0">
                <a:solidFill>
                  <a:srgbClr val="3CB98F"/>
                </a:solidFill>
              </a:rPr>
              <a:t>✅ Usar cuando:
</a:t>
            </a:r>
            <a:pPr indent="0" marL="0">
              <a:buNone/>
            </a:pPr>
            <a:r>
              <a:rPr lang="en-US" sz="1200" dirty="0">
                <a:solidFill>
                  <a:srgbClr val="1A1F4B"/>
                </a:solidFill>
              </a:rPr>
              <a:t>• Relación IS-A real y estable
• Subclase extiende, no reemplaza
• Jerarquía simple (no demasiados niveles)
</a:t>
            </a:r>
            <a:pPr indent="0" marL="0">
              <a:buNone/>
            </a:pPr>
            <a:r>
              <a:rPr lang="en-US" sz="1200" b="1" dirty="0">
                <a:solidFill>
                  <a:srgbClr val="E08A3C"/>
                </a:solidFill>
              </a:rPr>
              <a:t>⚠️ Cuidado:
</a:t>
            </a:r>
            <a:pPr indent="0" marL="0">
              <a:buNone/>
            </a:pPr>
            <a:r>
              <a:rPr lang="en-US" sz="1200" dirty="0">
                <a:solidFill>
                  <a:srgbClr val="1A1F4B"/>
                </a:solidFill>
              </a:rPr>
              <a:t>• Herencia profunda = frágil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4B"/>
                </a:solidFill>
              </a:rPr>
              <a:t>• Cambiar la base rompe todo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4B"/>
                </a:solidFill>
              </a:rPr>
              <a:t>• Difícil de reutilizar individualmente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804672"/>
            <a:ext cx="40690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CB9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804672"/>
            <a:ext cx="4069080" cy="457200"/>
          </a:xfrm>
          <a:prstGeom prst="rect">
            <a:avLst/>
          </a:prstGeom>
          <a:solidFill>
            <a:srgbClr val="3CB98F"/>
          </a:solidFill>
          <a:ln w="12700">
            <a:solidFill>
              <a:srgbClr val="3CB9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80467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🧩  COMPOSICIÓN  ("tiene un")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353312"/>
            <a:ext cx="365760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Auto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tiene un </a:t>
            </a:r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</a:rPr>
              <a:t>Motor
</a:t>
            </a:r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Alumno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tiene una </a:t>
            </a:r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</a:rPr>
              <a:t>Lista de Notas
</a:t>
            </a:r>
            <a:pPr indent="0" marL="0">
              <a:buNone/>
            </a:pPr>
            <a:r>
              <a:rPr lang="en-US" sz="1200" b="1" dirty="0">
                <a:solidFill>
                  <a:srgbClr val="3CB98F"/>
                </a:solidFill>
              </a:rPr>
              <a:t>✅ Usar cuando:
</a:t>
            </a:r>
            <a:pPr indent="0" marL="0">
              <a:buNone/>
            </a:pPr>
            <a:r>
              <a:rPr lang="en-US" sz="1200" dirty="0">
                <a:solidFill>
                  <a:srgbClr val="1A1F4B"/>
                </a:solidFill>
              </a:rPr>
              <a:t>• Comportamiento puede cambiar
• Quieres reutilizar partes
• Relación HAS-A (tiene un)
</a:t>
            </a:r>
            <a:pPr indent="0" marL="0">
              <a:buNone/>
            </a:pPr>
            <a:r>
              <a:rPr lang="en-US" sz="1200" b="1" dirty="0">
                <a:solidFill>
                  <a:srgbClr val="5B3FA0"/>
                </a:solidFill>
              </a:rPr>
              <a:t>💡 Ventaja clave:
</a:t>
            </a:r>
            <a:pPr indent="0" marL="0">
              <a:buNone/>
            </a:pPr>
            <a:r>
              <a:rPr lang="en-US" sz="1200" dirty="0">
                <a:solidFill>
                  <a:srgbClr val="1A1F4B"/>
                </a:solidFill>
              </a:rPr>
              <a:t>• Más flexible que herencia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4B"/>
                </a:solidFill>
              </a:rPr>
              <a:t>• Cambiar el componente no afecta al todo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4B"/>
                </a:solidFill>
              </a:rPr>
              <a:t>• Preferido en diseño moderno (SOLID O)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743200"/>
            <a:ext cx="3200400" cy="3200400"/>
          </a:xfrm>
          <a:prstGeom prst="ellipse">
            <a:avLst/>
          </a:prstGeom>
          <a:solidFill>
            <a:srgbClr val="2D3581">
              <a:alpha val="50000"/>
            </a:srgbClr>
          </a:solidFill>
          <a:ln w="12700">
            <a:solidFill>
              <a:srgbClr val="2D3581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52E"/>
                </a:solidFill>
              </a:rPr>
              <a:t>LECCIÓN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6858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Realización del diseño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en el nivel de componentes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5C842"/>
                </a:solidFill>
              </a:rPr>
              <a:t>Del diagrama UML al código real: el proceso completo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2152E"/>
          </a:solidFill>
          <a:ln w="12700">
            <a:solidFill>
              <a:srgbClr val="1215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C842"/>
                </a:solidFill>
              </a:rPr>
              <a:t>11° Año  |  Diseño de Software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C842"/>
                </a:solidFill>
              </a:rPr>
              <a:t>Diseño en el Nivel de Componentes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B5A00"/>
          </a:solidFill>
          <a:ln w="12700">
            <a:solidFill>
              <a:srgbClr val="7B5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El proceso de realización — Del diseño al código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F4B"/>
                </a:solidFill>
              </a:rPr>
              <a:t>Realizar el diseño significa tomar las decisiones de diseño y convertirlas en código ejecutable. El proceso sigue pasos definidos.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2D3581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89888"/>
            <a:ext cx="457200" cy="1115568"/>
          </a:xfrm>
          <a:prstGeom prst="rect">
            <a:avLst/>
          </a:prstGeom>
          <a:solidFill>
            <a:srgbClr val="2D3581"/>
          </a:solidFill>
          <a:ln w="12700">
            <a:solidFill>
              <a:srgbClr val="2D35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89888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0392" y="1481328"/>
            <a:ext cx="3547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3581"/>
                </a:solidFill>
              </a:rPr>
              <a:t>Identificar las clases del diseño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50392" y="1792224"/>
            <a:ext cx="3547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B"/>
                </a:solidFill>
              </a:rPr>
              <a:t>A partir del modelo de análisis, identificar qué clases serán componentes del sistema.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389888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3FA0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89888"/>
            <a:ext cx="457200" cy="1115568"/>
          </a:xfrm>
          <a:prstGeom prst="rect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389888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85232" y="1481328"/>
            <a:ext cx="3547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3FA0"/>
                </a:solidFill>
              </a:rPr>
              <a:t>Especificar los atributos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85232" y="1792224"/>
            <a:ext cx="3547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B"/>
                </a:solidFill>
              </a:rPr>
              <a:t>Definir nombre, tipo de dato y visibilidad (+público, -privado, #protegido) de cada atributo.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633472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3CB98F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633472"/>
            <a:ext cx="457200" cy="1115568"/>
          </a:xfrm>
          <a:prstGeom prst="rect">
            <a:avLst/>
          </a:prstGeom>
          <a:solidFill>
            <a:srgbClr val="3CB98F"/>
          </a:solidFill>
          <a:ln w="12700">
            <a:solidFill>
              <a:srgbClr val="3CB9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633472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0392" y="2724912"/>
            <a:ext cx="3547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CB98F"/>
                </a:solidFill>
              </a:rPr>
              <a:t>Especificar las operaciones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50392" y="3035808"/>
            <a:ext cx="3547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B"/>
                </a:solidFill>
              </a:rPr>
              <a:t>Definir cada método: nombre, parámetros, tipo de retorno y descripción de su comportamiento.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633472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8A3C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633472"/>
            <a:ext cx="457200" cy="1115568"/>
          </a:xfrm>
          <a:prstGeom prst="rect">
            <a:avLst/>
          </a:prstGeom>
          <a:solidFill>
            <a:srgbClr val="E08A3C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633472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85232" y="2724912"/>
            <a:ext cx="3547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8A3C"/>
                </a:solidFill>
              </a:rPr>
              <a:t>Definir las interfaces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285232" y="3035808"/>
            <a:ext cx="3547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B"/>
                </a:solidFill>
              </a:rPr>
              <a:t>Especificar los contratos: qué ofrece el componente al exterior. Nada de implementación.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877056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5252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877056"/>
            <a:ext cx="457200" cy="111556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877056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50392" y="3968496"/>
            <a:ext cx="3547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5252"/>
                </a:solidFill>
              </a:rPr>
              <a:t>Elaborar pseudocódigo / algoritmo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50392" y="4279392"/>
            <a:ext cx="3547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B"/>
                </a:solidFill>
              </a:rPr>
              <a:t>Para operaciones complejas, describir la lógica antes de codificar. Detectar errores de diseño.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877056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1E5C44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877056"/>
            <a:ext cx="457200" cy="1115568"/>
          </a:xfrm>
          <a:prstGeom prst="rect">
            <a:avLst/>
          </a:prstGeom>
          <a:solidFill>
            <a:srgbClr val="1E5C44"/>
          </a:solidFill>
          <a:ln w="12700">
            <a:solidFill>
              <a:srgbClr val="1E5C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877056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285232" y="3968496"/>
            <a:ext cx="3547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5C44"/>
                </a:solidFill>
              </a:rPr>
              <a:t>Implementar y validar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285232" y="4279392"/>
            <a:ext cx="3547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B"/>
                </a:solidFill>
              </a:rPr>
              <a:t>Convertir el diseño en código. Verificar que cumple con los requisitos y principios de diseño.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B5A00"/>
          </a:solidFill>
          <a:ln w="12700">
            <a:solidFill>
              <a:srgbClr val="7B5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 UML a código — Ejemplo completo paso a paso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926080" cy="4160520"/>
          </a:xfrm>
          <a:prstGeom prst="rect">
            <a:avLst/>
          </a:prstGeom>
          <a:solidFill>
            <a:srgbClr val="1E2240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2926080" cy="41148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52E"/>
                </a:solidFill>
              </a:rPr>
              <a:t>📐  Diseño UML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2651760" cy="3602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Clase: CuentaBancaria
</a:t>
            </a:r>
            <a:pPr indent="0" marL="0">
              <a:buNone/>
            </a:pPr>
            <a:r>
              <a:rPr lang="en-US" sz="1050" b="1" dirty="0">
                <a:solidFill>
                  <a:srgbClr val="3CB9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Atributos: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titular: str
  - saldo: float
  - nro_cuenta: str
</a:t>
            </a:r>
            <a:pPr indent="0" marL="0">
              <a:buNone/>
            </a:pPr>
            <a:r>
              <a:rPr lang="en-US" sz="1050" b="1" dirty="0">
                <a:solidFill>
                  <a:srgbClr val="9B8E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Operaciones: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depositar(monto)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retirar(monto): bool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get_saldo(): float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transferir(monto, destino)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73552" y="2834640"/>
            <a:ext cx="457200" cy="0"/>
          </a:xfrm>
          <a:prstGeom prst="line">
            <a:avLst/>
          </a:prstGeom>
          <a:noFill/>
          <a:ln w="25400">
            <a:solidFill>
              <a:srgbClr val="F5C8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46704" y="2633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C842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822192" y="804672"/>
            <a:ext cx="5029200" cy="4160520"/>
          </a:xfrm>
          <a:prstGeom prst="rect">
            <a:avLst/>
          </a:prstGeom>
          <a:solidFill>
            <a:srgbClr val="1E2240"/>
          </a:solidFill>
          <a:ln w="12700">
            <a:solidFill>
              <a:srgbClr val="3CB9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22192" y="804672"/>
            <a:ext cx="5029200" cy="411480"/>
          </a:xfrm>
          <a:prstGeom prst="rect">
            <a:avLst/>
          </a:prstGeom>
          <a:solidFill>
            <a:srgbClr val="3CB98F"/>
          </a:solidFill>
          <a:ln w="12700">
            <a:solidFill>
              <a:srgbClr val="3CB9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22192" y="80467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52E"/>
                </a:solidFill>
              </a:rPr>
              <a:t>💻  Código Python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1280160"/>
            <a:ext cx="4800600" cy="3602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CuentaBancaria:
</a:t>
            </a:r>
            <a:pPr indent="0" marL="0">
              <a:buNone/>
            </a:pPr>
            <a:r>
              <a:rPr lang="en-US" sz="100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__init__(self, titular, nro):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self.__titular = titular
    self.__saldo = 0.0
    self.__nro_cuenta = nro
</a:t>
            </a:r>
            <a:pPr indent="0" marL="0">
              <a:buNone/>
            </a:pPr>
            <a:r>
              <a:rPr lang="en-US" sz="100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depositar(self, monto):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monto &gt; 0:
      self.__saldo += monto
</a:t>
            </a:r>
            <a:pPr indent="0" marL="0">
              <a:buNone/>
            </a:pPr>
            <a:r>
              <a:rPr lang="en-US" sz="100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retirar(self, monto):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monto &lt;= self.__saldo:
      self.__saldo -= monto
      return True
    return False
</a:t>
            </a:r>
            <a:pPr indent="0" marL="0">
              <a:buNone/>
            </a:pPr>
            <a:r>
              <a:rPr lang="en-US" sz="100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get_saldo(self):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self.__saldo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B5A00"/>
          </a:solidFill>
          <a:ln w="12700">
            <a:solidFill>
              <a:srgbClr val="7B5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Pseudocódigo — Antes de codificar, piensa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F4B"/>
                </a:solidFill>
              </a:rPr>
              <a:t>El pseudocódigo describe la lógica de un método en lenguaje natural estructurado. Permite validar el algoritmo antes de comprometerse con un lenguaje de programación.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206240" cy="3520440"/>
          </a:xfrm>
          <a:prstGeom prst="rect">
            <a:avLst/>
          </a:prstGeom>
          <a:solidFill>
            <a:srgbClr val="12152E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4206240" cy="38404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2E"/>
                </a:solidFill>
              </a:rPr>
              <a:t>📝  Pseudocódigo: retirar(monto)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83664"/>
            <a:ext cx="3931920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OPERACIÓN retirar(monto)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 monto &lt;= 0 ENTONCES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mostrar error 'Monto inválido'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RETORNAR Falso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 monto &gt; saldo ENTONCES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mostrar error 'Saldo insuficiente'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RETORNAR Falso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saldo ← saldo - monto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registrar_movimiento(monto)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RETORNAR Verdadero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 OPERACIÓN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41605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CB9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417320"/>
            <a:ext cx="4160520" cy="384048"/>
          </a:xfrm>
          <a:prstGeom prst="rect">
            <a:avLst/>
          </a:prstGeom>
          <a:solidFill>
            <a:srgbClr val="3CB98F"/>
          </a:solidFill>
          <a:ln w="12700">
            <a:solidFill>
              <a:srgbClr val="3CB9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41732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Checklist de validación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920240"/>
            <a:ext cx="201168" cy="201168"/>
          </a:xfrm>
          <a:prstGeom prst="ellipse">
            <a:avLst/>
          </a:prstGeom>
          <a:solidFill>
            <a:srgbClr val="3CB98F"/>
          </a:solidFill>
          <a:ln w="12700">
            <a:solidFill>
              <a:srgbClr val="3CB9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8836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B"/>
                </a:solidFill>
              </a:rPr>
              <a:t>¿Maneja todos los casos borde? (monto=0, monto negativo)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2350008"/>
            <a:ext cx="201168" cy="201168"/>
          </a:xfrm>
          <a:prstGeom prst="ellipse">
            <a:avLst/>
          </a:prstGeom>
          <a:solidFill>
            <a:srgbClr val="3CB98F"/>
          </a:solidFill>
          <a:ln w="12700">
            <a:solidFill>
              <a:srgbClr val="3CB9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31343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B"/>
                </a:solidFill>
              </a:rPr>
              <a:t>¿Qué pasa si el saldo es exactamente igual al monto?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779776"/>
            <a:ext cx="201168" cy="201168"/>
          </a:xfrm>
          <a:prstGeom prst="ellipse">
            <a:avLst/>
          </a:prstGeom>
          <a:solidFill>
            <a:srgbClr val="3CB98F"/>
          </a:solidFill>
          <a:ln w="12700">
            <a:solidFill>
              <a:srgbClr val="3CB9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7432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B"/>
                </a:solidFill>
              </a:rPr>
              <a:t>¿La operación falla de forma segura (no modifica datos si hay error)?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3209544"/>
            <a:ext cx="201168" cy="201168"/>
          </a:xfrm>
          <a:prstGeom prst="ellipse">
            <a:avLst/>
          </a:prstGeom>
          <a:solidFill>
            <a:srgbClr val="3CB98F"/>
          </a:solidFill>
          <a:ln w="12700">
            <a:solidFill>
              <a:srgbClr val="3CB9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1729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B"/>
                </a:solidFill>
              </a:rPr>
              <a:t>¿El nombre del método describe bien lo que hace?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3639312"/>
            <a:ext cx="201168" cy="201168"/>
          </a:xfrm>
          <a:prstGeom prst="ellipse">
            <a:avLst/>
          </a:prstGeom>
          <a:solidFill>
            <a:srgbClr val="3CB98F"/>
          </a:solidFill>
          <a:ln w="12700">
            <a:solidFill>
              <a:srgbClr val="3CB9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360273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B"/>
                </a:solidFill>
              </a:rPr>
              <a:t>¿La interfaz (parámetros y retorno) es clara para quien lo usa?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4069080"/>
            <a:ext cx="201168" cy="201168"/>
          </a:xfrm>
          <a:prstGeom prst="ellipse">
            <a:avLst/>
          </a:prstGeom>
          <a:solidFill>
            <a:srgbClr val="3CB98F"/>
          </a:solidFill>
          <a:ln w="12700">
            <a:solidFill>
              <a:srgbClr val="3CB9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403250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B"/>
                </a:solidFill>
              </a:rPr>
              <a:t>¿Hay responsabilidad única? ¿No hace demasiado?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4498848"/>
            <a:ext cx="201168" cy="201168"/>
          </a:xfrm>
          <a:prstGeom prst="ellipse">
            <a:avLst/>
          </a:prstGeom>
          <a:solidFill>
            <a:srgbClr val="3CB98F"/>
          </a:solidFill>
          <a:ln w="12700">
            <a:solidFill>
              <a:srgbClr val="3CB9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44622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B"/>
                </a:solidFill>
              </a:rPr>
              <a:t>¿El método tiene efectos secundarios no esperados?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Resumen — El camino completo del diseño de componentes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743200" cy="4133088"/>
          </a:xfrm>
          <a:prstGeom prst="rect">
            <a:avLst/>
          </a:prstGeom>
          <a:solidFill>
            <a:srgbClr val="1E2240"/>
          </a:solidFill>
          <a:ln w="12700">
            <a:solidFill>
              <a:srgbClr val="5B3F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2743200" cy="502920"/>
          </a:xfrm>
          <a:prstGeom prst="rect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L1  Diseño OO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444752"/>
            <a:ext cx="2468880" cy="658368"/>
          </a:xfrm>
          <a:prstGeom prst="rect">
            <a:avLst/>
          </a:prstGeom>
          <a:solidFill>
            <a:srgbClr val="252A4A"/>
          </a:solidFill>
          <a:ln w="12700">
            <a:solidFill>
              <a:srgbClr val="5B3FA0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463040"/>
            <a:ext cx="23591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Clases con responsabilidad clara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194560"/>
            <a:ext cx="2468880" cy="658368"/>
          </a:xfrm>
          <a:prstGeom prst="rect">
            <a:avLst/>
          </a:prstGeom>
          <a:solidFill>
            <a:srgbClr val="252A4A"/>
          </a:solidFill>
          <a:ln w="12700">
            <a:solidFill>
              <a:srgbClr val="5B3FA0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212848"/>
            <a:ext cx="23591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Principios SOLID (S, O, L, I, 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944368"/>
            <a:ext cx="2468880" cy="658368"/>
          </a:xfrm>
          <a:prstGeom prst="rect">
            <a:avLst/>
          </a:prstGeom>
          <a:solidFill>
            <a:srgbClr val="252A4A"/>
          </a:solidFill>
          <a:ln w="12700">
            <a:solidFill>
              <a:srgbClr val="5B3FA0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962656"/>
            <a:ext cx="23591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Diagramas UML de clase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694176"/>
            <a:ext cx="2468880" cy="658368"/>
          </a:xfrm>
          <a:prstGeom prst="rect">
            <a:avLst/>
          </a:prstGeom>
          <a:solidFill>
            <a:srgbClr val="252A4A"/>
          </a:solidFill>
          <a:ln w="12700">
            <a:solidFill>
              <a:srgbClr val="5B3FA0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712464"/>
            <a:ext cx="23591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Relaciones: herencia, composición, asociación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54680" y="804672"/>
            <a:ext cx="2743200" cy="4133088"/>
          </a:xfrm>
          <a:prstGeom prst="rect">
            <a:avLst/>
          </a:prstGeom>
          <a:solidFill>
            <a:srgbClr val="1E2240"/>
          </a:solidFill>
          <a:ln w="12700">
            <a:solidFill>
              <a:srgbClr val="3CB9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804672"/>
            <a:ext cx="2743200" cy="502920"/>
          </a:xfrm>
          <a:prstGeom prst="rect">
            <a:avLst/>
          </a:prstGeom>
          <a:solidFill>
            <a:srgbClr val="3CB98F"/>
          </a:solidFill>
          <a:ln w="12700">
            <a:solidFill>
              <a:srgbClr val="3CB9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8046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L2  Lineamientos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91840" y="1444752"/>
            <a:ext cx="2468880" cy="658368"/>
          </a:xfrm>
          <a:prstGeom prst="rect">
            <a:avLst/>
          </a:prstGeom>
          <a:solidFill>
            <a:srgbClr val="252A4A"/>
          </a:solidFill>
          <a:ln w="12700">
            <a:solidFill>
              <a:srgbClr val="3CB98F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1463040"/>
            <a:ext cx="23591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Nombrar bien (sustantivos / verbos)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2194560"/>
            <a:ext cx="2468880" cy="658368"/>
          </a:xfrm>
          <a:prstGeom prst="rect">
            <a:avLst/>
          </a:prstGeom>
          <a:solidFill>
            <a:srgbClr val="252A4A"/>
          </a:solidFill>
          <a:ln w="12700">
            <a:solidFill>
              <a:srgbClr val="3CB98F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5848" y="2212848"/>
            <a:ext cx="23591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Ley de Demeter: pocos vecinos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2944368"/>
            <a:ext cx="2468880" cy="658368"/>
          </a:xfrm>
          <a:prstGeom prst="rect">
            <a:avLst/>
          </a:prstGeom>
          <a:solidFill>
            <a:srgbClr val="252A4A"/>
          </a:solidFill>
          <a:ln w="12700">
            <a:solidFill>
              <a:srgbClr val="3CB98F">
                <a:alpha val="4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2962656"/>
            <a:ext cx="23591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Composición &gt; herencia cuando sea posible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3694176"/>
            <a:ext cx="2468880" cy="658368"/>
          </a:xfrm>
          <a:prstGeom prst="rect">
            <a:avLst/>
          </a:prstGeom>
          <a:solidFill>
            <a:srgbClr val="252A4A"/>
          </a:solidFill>
          <a:ln w="12700">
            <a:solidFill>
              <a:srgbClr val="3CB98F">
                <a:alpha val="4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55848" y="3712464"/>
            <a:ext cx="23591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Interfaces definidas antes de implementar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804672"/>
            <a:ext cx="2743200" cy="4133088"/>
          </a:xfrm>
          <a:prstGeom prst="rect">
            <a:avLst/>
          </a:prstGeom>
          <a:solidFill>
            <a:srgbClr val="1E224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804672"/>
            <a:ext cx="2743200" cy="50292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8046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52E"/>
                </a:solidFill>
              </a:rPr>
              <a:t>L3  Realización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72200" y="1444752"/>
            <a:ext cx="2468880" cy="658368"/>
          </a:xfrm>
          <a:prstGeom prst="rect">
            <a:avLst/>
          </a:prstGeom>
          <a:solidFill>
            <a:srgbClr val="252A4A"/>
          </a:solidFill>
          <a:ln w="12700">
            <a:solidFill>
              <a:srgbClr val="F5C842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36208" y="1463040"/>
            <a:ext cx="23591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Proceso: 6 pasos del diseño al código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200" y="2194560"/>
            <a:ext cx="2468880" cy="658368"/>
          </a:xfrm>
          <a:prstGeom prst="rect">
            <a:avLst/>
          </a:prstGeom>
          <a:solidFill>
            <a:srgbClr val="252A4A"/>
          </a:solidFill>
          <a:ln w="12700">
            <a:solidFill>
              <a:srgbClr val="F5C842">
                <a:alpha val="4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6208" y="2212848"/>
            <a:ext cx="23591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Atributos: nombre, tipo, visibilidad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72200" y="2944368"/>
            <a:ext cx="2468880" cy="658368"/>
          </a:xfrm>
          <a:prstGeom prst="rect">
            <a:avLst/>
          </a:prstGeom>
          <a:solidFill>
            <a:srgbClr val="252A4A"/>
          </a:solidFill>
          <a:ln w="12700">
            <a:solidFill>
              <a:srgbClr val="F5C842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6208" y="2962656"/>
            <a:ext cx="23591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Operaciones: parámetros y retorno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72200" y="3694176"/>
            <a:ext cx="2468880" cy="658368"/>
          </a:xfrm>
          <a:prstGeom prst="rect">
            <a:avLst/>
          </a:prstGeom>
          <a:solidFill>
            <a:srgbClr val="252A4A"/>
          </a:solidFill>
          <a:ln w="12700">
            <a:solidFill>
              <a:srgbClr val="F5C842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36208" y="3712464"/>
            <a:ext cx="23591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Pseudocódigo + checklist de validación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B8EC4"/>
                </a:solidFill>
              </a:rPr>
              <a:t>Próxima clase: Patrones de diseño aplicados a componentes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Diseño en el Nivel de Componentes - Lecciones 2, 3 y 4</dc:title>
  <dc:subject>PptxGenJS Presentation</dc:subject>
  <dc:creator>PptxGenJS</dc:creator>
  <cp:lastModifiedBy>PptxGenJS</cp:lastModifiedBy>
  <cp:revision>1</cp:revision>
  <dcterms:created xsi:type="dcterms:W3CDTF">2026-03-12T21:52:57Z</dcterms:created>
  <dcterms:modified xsi:type="dcterms:W3CDTF">2026-03-12T21:52:57Z</dcterms:modified>
</cp:coreProperties>
</file>