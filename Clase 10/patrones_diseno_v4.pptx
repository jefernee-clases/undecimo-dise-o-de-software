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7"/>
    <p:sldId id="266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11° AÑO · DISEÑO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Basado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Patrones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fundamentales y clasificación de patrones de diseño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software: Creacionales · Estructurales · Conductuales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CTP San Pedro de Barva  ·  MEP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773168"/>
            <a:ext cx="320040" cy="32004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73168"/>
            <a:ext cx="320040" cy="32004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773168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CONCEPTOS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Patrón de Diseño?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reutilizable a un problema común en el desarrollo de software.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81381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Un patrón de diseño es como una receta probada: no inventa la solución, describe cómo resolverla bien. 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26517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42032"/>
            <a:ext cx="64008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6517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Problema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944368"/>
            <a:ext cx="239572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una situación recurrente en el diseño de software.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542032"/>
            <a:ext cx="26517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542032"/>
            <a:ext cx="64008" cy="1481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6517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Solución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2944368"/>
            <a:ext cx="239572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una estructura general probada para resolverlo.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542032"/>
            <a:ext cx="26517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542032"/>
            <a:ext cx="64008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6517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2944368"/>
            <a:ext cx="239572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es más flexible, reutilizable y fácil de mantener.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279392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4187952"/>
            <a:ext cx="7543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Piensa en un patrón como el plano de una casa. Cada familia adapta los detalles, pero la estructura base es la misma y ya está probada.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BENEFICIOS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patrones de diseño?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clave para cualquier proyecto de software.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184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182880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que aprendés un patrón, lo podés aplicar en múltiples proyectos. No resolvés el mismo problema dos veces desde cero.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35000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350008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505456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3288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43000" y="2423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43000" y="27157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tienen nombres estándar. Decir "usé un Singleton" comunica la solución a cualquier programador al instante.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3236976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236976"/>
            <a:ext cx="6400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19856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143000" y="360273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basado en patrones es más fácil de modificar, depurar y escalar porque tiene una estructura conocida.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65760" y="4123944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65760" y="4123944"/>
            <a:ext cx="6400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" y="427939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306824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43000" y="4197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probada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43000" y="448970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soluciones inventadas: han sido usadas y validadas por miles de desarrolladores en el mundo real.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CLASIFICACIÓN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familias de patrones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según el tipo de problema que resuelven.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69748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2697480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59105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5727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Creacionales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197510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crear objetos?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8056" y="2487168"/>
            <a:ext cx="245059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 cuándo y cómo se crean los objetos. Evitan el uso directo de 'new' para mayor flexibilidad.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" y="3712464"/>
            <a:ext cx="2487168" cy="9326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7673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" y="400507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Singleton, Factory, Builder, Prototype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82112" y="1481328"/>
            <a:ext cx="269748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82112" y="1481328"/>
            <a:ext cx="2697480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91056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22192" y="15727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Estructurales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822192" y="197510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organizar clases?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10128" y="2487168"/>
            <a:ext cx="245059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Definen cómo se relacionan y combinan las clases para formar estructuras más grandes y manejables.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291840" y="3712464"/>
            <a:ext cx="2487168" cy="9326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64992" y="37673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364992" y="400507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Adapter, Decorator, Facade, Composite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44184" y="1481328"/>
            <a:ext cx="269748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44184" y="1481328"/>
            <a:ext cx="2697480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591056"/>
            <a:ext cx="475488" cy="4754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84264" y="15727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Conductuales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684264" y="197510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comunican?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172200" y="2487168"/>
            <a:ext cx="245059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Establecen cómo los objetos interactúan y reparten responsabilidades entre sí.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153912" y="3712464"/>
            <a:ext cx="2487168" cy="9326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27064" y="37673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227064" y="400507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Observer, Strategy, Command, State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BadgeTxt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CREACIONALES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2800" b="1" dirty="0">
                <a:solidFill>
                  <a:srgbClr val="1E293B"/>
                </a:solidFill>
                <a:latin typeface="Calibri" pitchFamily="34" charset="0"/>
              </a:rPr>
              <a:t>Patrones Creacionales</a:t>
            </a:r>
          </a:p>
        </p:txBody>
      </p:sp>
      <p:sp>
        <p:nvSpPr>
          <p:cNvPr id="5" name="Sub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50" dirty="0">
                <a:solidFill>
                  <a:srgbClr val="64748B"/>
                </a:solidFill>
                <a:latin typeface="Calibri" pitchFamily="34" charset="0"/>
              </a:rPr>
              <a:t>Controlan cuándo y cómo se crean los objetos en el sistema.</a:t>
            </a:r>
          </a:p>
        </p:txBody>
      </p:sp>
      <p:sp>
        <p:nvSpPr>
          <p:cNvPr id="6" name="CBg6"/>
          <p:cNvSpPr/>
          <p:nvPr/>
        </p:nvSpPr>
        <p:spPr>
          <a:xfrm>
            <a:off x="36576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Hd7"/>
          <p:cNvSpPr/>
          <p:nvPr/>
        </p:nvSpPr>
        <p:spPr>
          <a:xfrm>
            <a:off x="365760" y="1380000"/>
            <a:ext cx="4114800" cy="40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CNm8"/>
          <p:cNvSpPr/>
          <p:nvPr/>
        </p:nvSpPr>
        <p:spPr>
          <a:xfrm>
            <a:off x="48576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🔒  SINGLETON</a:t>
            </a:r>
          </a:p>
        </p:txBody>
      </p:sp>
      <p:sp>
        <p:nvSpPr>
          <p:cNvPr id="9" name="CDf9"/>
          <p:cNvSpPr/>
          <p:nvPr/>
        </p:nvSpPr>
        <p:spPr>
          <a:xfrm>
            <a:off x="48576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Garantiza que una clase tenga exactamente UNA sola instancia durante toda la ejecución del programa, y provee un punto de acceso global a ella.</a:t>
            </a:r>
          </a:p>
        </p:txBody>
      </p:sp>
      <p:sp>
        <p:nvSpPr>
          <p:cNvPr id="10" name="CWLine10"/>
          <p:cNvSpPr/>
          <p:nvPr/>
        </p:nvSpPr>
        <p:spPr>
          <a:xfrm>
            <a:off x="48576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CWLbl11"/>
          <p:cNvSpPr/>
          <p:nvPr/>
        </p:nvSpPr>
        <p:spPr>
          <a:xfrm>
            <a:off x="48576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D97706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12" name="CWTxt12"/>
          <p:cNvSpPr/>
          <p:nvPr/>
        </p:nvSpPr>
        <p:spPr>
          <a:xfrm>
            <a:off x="48576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'Imagínese que solo hay una llave maestra del colegio. No importa quién la pida, siempre es la misma. Nunca se duplica.'</a:t>
            </a:r>
          </a:p>
        </p:txBody>
      </p:sp>
      <p:sp>
        <p:nvSpPr>
          <p:cNvPr id="13" name="CELine13"/>
          <p:cNvSpPr/>
          <p:nvPr/>
        </p:nvSpPr>
        <p:spPr>
          <a:xfrm>
            <a:off x="48576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CEx14"/>
          <p:cNvSpPr/>
          <p:nvPr/>
        </p:nvSpPr>
        <p:spPr>
          <a:xfrm>
            <a:off x="48576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D97706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La conexión a una BD: todo el sistema reutiliza una única instancia de DatabaseConnection en lugar de abrir una nueva cada vez.</a:t>
            </a:r>
          </a:p>
        </p:txBody>
      </p:sp>
      <p:sp>
        <p:nvSpPr>
          <p:cNvPr id="15" name="CBg15"/>
          <p:cNvSpPr/>
          <p:nvPr/>
        </p:nvSpPr>
        <p:spPr>
          <a:xfrm>
            <a:off x="466344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CHd16"/>
          <p:cNvSpPr/>
          <p:nvPr/>
        </p:nvSpPr>
        <p:spPr>
          <a:xfrm>
            <a:off x="4663440" y="1380000"/>
            <a:ext cx="4114800" cy="40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CNm17"/>
          <p:cNvSpPr/>
          <p:nvPr/>
        </p:nvSpPr>
        <p:spPr>
          <a:xfrm>
            <a:off x="478344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🏭  FACTORY METHOD</a:t>
            </a:r>
          </a:p>
        </p:txBody>
      </p:sp>
      <p:sp>
        <p:nvSpPr>
          <p:cNvPr id="18" name="CDf18"/>
          <p:cNvSpPr/>
          <p:nvPr/>
        </p:nvSpPr>
        <p:spPr>
          <a:xfrm>
            <a:off x="478344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Define una interfaz para crear objetos, pero deja que las subclases decidan qué clase concreta instanciar. Desacopla la creación del objeto de su uso.</a:t>
            </a:r>
          </a:p>
        </p:txBody>
      </p:sp>
      <p:sp>
        <p:nvSpPr>
          <p:cNvPr id="19" name="CWLine19"/>
          <p:cNvSpPr/>
          <p:nvPr/>
        </p:nvSpPr>
        <p:spPr>
          <a:xfrm>
            <a:off x="478344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CWLbl20"/>
          <p:cNvSpPr/>
          <p:nvPr/>
        </p:nvSpPr>
        <p:spPr>
          <a:xfrm>
            <a:off x="478344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D97706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21" name="CWTxt21"/>
          <p:cNvSpPr/>
          <p:nvPr/>
        </p:nvSpPr>
        <p:spPr>
          <a:xfrm>
            <a:off x="478344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'Como pedir en un restaurante: dame una bebida fría. El mesero decide si es agua, jugo o refresco. Usted no sabe cómo se preparó, solo la recibe.'</a:t>
            </a:r>
          </a:p>
        </p:txBody>
      </p:sp>
      <p:sp>
        <p:nvSpPr>
          <p:cNvPr id="22" name="CELine22"/>
          <p:cNvSpPr/>
          <p:nvPr/>
        </p:nvSpPr>
        <p:spPr>
          <a:xfrm>
            <a:off x="478344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CEx23"/>
          <p:cNvSpPr/>
          <p:nvPr/>
        </p:nvSpPr>
        <p:spPr>
          <a:xfrm>
            <a:off x="478344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D97706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Un generador de botones UI: el código llama crearBoton() y el Factory retorna BotónWindows, BotónMac o BotónLinux según el sistema detectado.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BadgeTxt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CREACIONALES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2800" b="1" dirty="0">
                <a:solidFill>
                  <a:srgbClr val="1E293B"/>
                </a:solidFill>
                <a:latin typeface="Calibri" pitchFamily="34" charset="0"/>
              </a:rPr>
              <a:t>Patrones Creacionales</a:t>
            </a:r>
          </a:p>
        </p:txBody>
      </p:sp>
      <p:sp>
        <p:nvSpPr>
          <p:cNvPr id="5" name="Sub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50" dirty="0">
                <a:solidFill>
                  <a:srgbClr val="64748B"/>
                </a:solidFill>
                <a:latin typeface="Calibri" pitchFamily="34" charset="0"/>
              </a:rPr>
              <a:t>Controlan cuándo y cómo se crean los objetos en el sistema.</a:t>
            </a:r>
          </a:p>
        </p:txBody>
      </p:sp>
      <p:sp>
        <p:nvSpPr>
          <p:cNvPr id="6" name="CBg6"/>
          <p:cNvSpPr/>
          <p:nvPr/>
        </p:nvSpPr>
        <p:spPr>
          <a:xfrm>
            <a:off x="36576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Hd7"/>
          <p:cNvSpPr/>
          <p:nvPr/>
        </p:nvSpPr>
        <p:spPr>
          <a:xfrm>
            <a:off x="365760" y="1380000"/>
            <a:ext cx="4114800" cy="40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CNm8"/>
          <p:cNvSpPr/>
          <p:nvPr/>
        </p:nvSpPr>
        <p:spPr>
          <a:xfrm>
            <a:off x="48576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🔧  BUILDER</a:t>
            </a:r>
          </a:p>
        </p:txBody>
      </p:sp>
      <p:sp>
        <p:nvSpPr>
          <p:cNvPr id="9" name="CDf9"/>
          <p:cNvSpPr/>
          <p:nvPr/>
        </p:nvSpPr>
        <p:spPr>
          <a:xfrm>
            <a:off x="48576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Separa la construcción de un objeto complejo de su representación final. Permite construir el objeto paso a paso usando solo los pasos necesarios.</a:t>
            </a:r>
          </a:p>
        </p:txBody>
      </p:sp>
      <p:sp>
        <p:nvSpPr>
          <p:cNvPr id="10" name="CWLine10"/>
          <p:cNvSpPr/>
          <p:nvPr/>
        </p:nvSpPr>
        <p:spPr>
          <a:xfrm>
            <a:off x="48576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CWLbl11"/>
          <p:cNvSpPr/>
          <p:nvPr/>
        </p:nvSpPr>
        <p:spPr>
          <a:xfrm>
            <a:off x="48576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D97706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12" name="CWTxt12"/>
          <p:cNvSpPr/>
          <p:nvPr/>
        </p:nvSpPr>
        <p:spPr>
          <a:xfrm>
            <a:off x="48576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'Como pedir una pizza: masa, salsa, queso, extras. El pizzero los agrega uno a uno. Si no quiere cebolla, ese paso se omite. Al final: pizza completa.'</a:t>
            </a:r>
          </a:p>
        </p:txBody>
      </p:sp>
      <p:sp>
        <p:nvSpPr>
          <p:cNvPr id="13" name="CELine13"/>
          <p:cNvSpPr/>
          <p:nvPr/>
        </p:nvSpPr>
        <p:spPr>
          <a:xfrm>
            <a:off x="48576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CEx14"/>
          <p:cNvSpPr/>
          <p:nvPr/>
        </p:nvSpPr>
        <p:spPr>
          <a:xfrm>
            <a:off x="48576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D97706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Generar un reporte PDF: se construyen por separado encabezado, cuerpo y gráficos. Al llamar build() se obtiene el documento completo.</a:t>
            </a:r>
          </a:p>
        </p:txBody>
      </p:sp>
      <p:sp>
        <p:nvSpPr>
          <p:cNvPr id="15" name="CBg15"/>
          <p:cNvSpPr/>
          <p:nvPr/>
        </p:nvSpPr>
        <p:spPr>
          <a:xfrm>
            <a:off x="466344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CHd16"/>
          <p:cNvSpPr/>
          <p:nvPr/>
        </p:nvSpPr>
        <p:spPr>
          <a:xfrm>
            <a:off x="4663440" y="1380000"/>
            <a:ext cx="4114800" cy="40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CNm17"/>
          <p:cNvSpPr/>
          <p:nvPr/>
        </p:nvSpPr>
        <p:spPr>
          <a:xfrm>
            <a:off x="478344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📋  PROTOTYPE</a:t>
            </a:r>
          </a:p>
        </p:txBody>
      </p:sp>
      <p:sp>
        <p:nvSpPr>
          <p:cNvPr id="18" name="CDf18"/>
          <p:cNvSpPr/>
          <p:nvPr/>
        </p:nvSpPr>
        <p:spPr>
          <a:xfrm>
            <a:off x="478344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Crea nuevos objetos copiando (clonando) un objeto existente, en lugar de construirlos desde cero. Útil cuando la creación directa es costosa o compleja.</a:t>
            </a:r>
          </a:p>
        </p:txBody>
      </p:sp>
      <p:sp>
        <p:nvSpPr>
          <p:cNvPr id="19" name="CWLine19"/>
          <p:cNvSpPr/>
          <p:nvPr/>
        </p:nvSpPr>
        <p:spPr>
          <a:xfrm>
            <a:off x="478344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CWLbl20"/>
          <p:cNvSpPr/>
          <p:nvPr/>
        </p:nvSpPr>
        <p:spPr>
          <a:xfrm>
            <a:off x="478344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D97706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21" name="CWTxt21"/>
          <p:cNvSpPr/>
          <p:nvPr/>
        </p:nvSpPr>
        <p:spPr>
          <a:xfrm>
            <a:off x="478344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'Como fotocopiar un documento: en vez de escribir todo de nuevo, sacás una copia y solo cambiás lo que necesitás. El original queda intacto.'</a:t>
            </a:r>
          </a:p>
        </p:txBody>
      </p:sp>
      <p:sp>
        <p:nvSpPr>
          <p:cNvPr id="22" name="CELine22"/>
          <p:cNvSpPr/>
          <p:nvPr/>
        </p:nvSpPr>
        <p:spPr>
          <a:xfrm>
            <a:off x="478344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CEx23"/>
          <p:cNvSpPr/>
          <p:nvPr/>
        </p:nvSpPr>
        <p:spPr>
          <a:xfrm>
            <a:off x="478344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D97706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En un editor como Figma, duplicar un componente crea una copia independiente. Modificar el clon no afecta al objeto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BadgeTxt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ESTRUCTURALES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2800" b="1" dirty="0">
                <a:solidFill>
                  <a:srgbClr val="1E293B"/>
                </a:solidFill>
                <a:latin typeface="Calibri" pitchFamily="34" charset="0"/>
              </a:rPr>
              <a:t>Patrones Estructurales</a:t>
            </a:r>
          </a:p>
        </p:txBody>
      </p:sp>
      <p:sp>
        <p:nvSpPr>
          <p:cNvPr id="5" name="Sub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50" dirty="0">
                <a:solidFill>
                  <a:srgbClr val="64748B"/>
                </a:solidFill>
                <a:latin typeface="Calibri" pitchFamily="34" charset="0"/>
              </a:rPr>
              <a:t>Definen cómo se organizan y relacionan las clases y objetos.</a:t>
            </a:r>
          </a:p>
        </p:txBody>
      </p:sp>
      <p:sp>
        <p:nvSpPr>
          <p:cNvPr id="6" name="CBg6"/>
          <p:cNvSpPr/>
          <p:nvPr/>
        </p:nvSpPr>
        <p:spPr>
          <a:xfrm>
            <a:off x="36576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Hd7"/>
          <p:cNvSpPr/>
          <p:nvPr/>
        </p:nvSpPr>
        <p:spPr>
          <a:xfrm>
            <a:off x="365760" y="1380000"/>
            <a:ext cx="41148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CNm8"/>
          <p:cNvSpPr/>
          <p:nvPr/>
        </p:nvSpPr>
        <p:spPr>
          <a:xfrm>
            <a:off x="48576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🔌  ADAPTER</a:t>
            </a:r>
          </a:p>
        </p:txBody>
      </p:sp>
      <p:sp>
        <p:nvSpPr>
          <p:cNvPr id="9" name="CDf9"/>
          <p:cNvSpPr/>
          <p:nvPr/>
        </p:nvSpPr>
        <p:spPr>
          <a:xfrm>
            <a:off x="48576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Permite que dos clases con interfaces incompatibles trabajen juntas. Actúa como un traductor que convierte la interfaz de una clase en la que el cliente espera.</a:t>
            </a:r>
          </a:p>
        </p:txBody>
      </p:sp>
      <p:sp>
        <p:nvSpPr>
          <p:cNvPr id="10" name="CWLine10"/>
          <p:cNvSpPr/>
          <p:nvPr/>
        </p:nvSpPr>
        <p:spPr>
          <a:xfrm>
            <a:off x="48576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CWLbl11"/>
          <p:cNvSpPr/>
          <p:nvPr/>
        </p:nvSpPr>
        <p:spPr>
          <a:xfrm>
            <a:off x="48576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0D9488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12" name="CWTxt12"/>
          <p:cNvSpPr/>
          <p:nvPr/>
        </p:nvSpPr>
        <p:spPr>
          <a:xfrm>
            <a:off x="48576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'El adaptador de viaje: su cargador americano no encaja en el tomacorriente europeo. El adaptador no cambia ni el cargador ni el tomacorriente. Solo traduce.'</a:t>
            </a:r>
          </a:p>
        </p:txBody>
      </p:sp>
      <p:sp>
        <p:nvSpPr>
          <p:cNvPr id="13" name="CELine13"/>
          <p:cNvSpPr/>
          <p:nvPr/>
        </p:nvSpPr>
        <p:spPr>
          <a:xfrm>
            <a:off x="48576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CEx14"/>
          <p:cNvSpPr/>
          <p:nvPr/>
        </p:nvSpPr>
        <p:spPr>
          <a:xfrm>
            <a:off x="48576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0D9488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Conectar una API de pagos con formato XML a un sistema moderno en JSON: el Adapter convierte los datos sin modificar ninguno de los dos sistemas.</a:t>
            </a:r>
          </a:p>
        </p:txBody>
      </p:sp>
      <p:sp>
        <p:nvSpPr>
          <p:cNvPr id="15" name="CBg15"/>
          <p:cNvSpPr/>
          <p:nvPr/>
        </p:nvSpPr>
        <p:spPr>
          <a:xfrm>
            <a:off x="466344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CHd16"/>
          <p:cNvSpPr/>
          <p:nvPr/>
        </p:nvSpPr>
        <p:spPr>
          <a:xfrm>
            <a:off x="4663440" y="1380000"/>
            <a:ext cx="41148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CNm17"/>
          <p:cNvSpPr/>
          <p:nvPr/>
        </p:nvSpPr>
        <p:spPr>
          <a:xfrm>
            <a:off x="478344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🏠  FACADE</a:t>
            </a:r>
          </a:p>
        </p:txBody>
      </p:sp>
      <p:sp>
        <p:nvSpPr>
          <p:cNvPr id="18" name="CDf18"/>
          <p:cNvSpPr/>
          <p:nvPr/>
        </p:nvSpPr>
        <p:spPr>
          <a:xfrm>
            <a:off x="478344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Proporciona una interfaz simple y unificada para un subsistema complejo de clases. Oculta la complejidad interna y expone solo lo que el cliente necesita.</a:t>
            </a:r>
          </a:p>
        </p:txBody>
      </p:sp>
      <p:sp>
        <p:nvSpPr>
          <p:cNvPr id="19" name="CWLine19"/>
          <p:cNvSpPr/>
          <p:nvPr/>
        </p:nvSpPr>
        <p:spPr>
          <a:xfrm>
            <a:off x="478344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CWLbl20"/>
          <p:cNvSpPr/>
          <p:nvPr/>
        </p:nvSpPr>
        <p:spPr>
          <a:xfrm>
            <a:off x="478344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0D9488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21" name="CWTxt21"/>
          <p:cNvSpPr/>
          <p:nvPr/>
        </p:nvSpPr>
        <p:spPr>
          <a:xfrm>
            <a:off x="478344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'El control remoto del televisor: usted aprieta ON y se activan 12 sistemas internos. No sabe cuáles. Solo aprieta el botón.'</a:t>
            </a:r>
          </a:p>
        </p:txBody>
      </p:sp>
      <p:sp>
        <p:nvSpPr>
          <p:cNvPr id="22" name="CELine22"/>
          <p:cNvSpPr/>
          <p:nvPr/>
        </p:nvSpPr>
        <p:spPr>
          <a:xfrm>
            <a:off x="478344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CEx23"/>
          <p:cNvSpPr/>
          <p:nvPr/>
        </p:nvSpPr>
        <p:spPr>
          <a:xfrm>
            <a:off x="478344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0D9488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El método login() de una app: internamente coordina autenticación, permisos, carga de perfil y registro. El cliente solo llama un método.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BadgeTxt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ESTRUCTURALES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2800" b="1" dirty="0">
                <a:solidFill>
                  <a:srgbClr val="1E293B"/>
                </a:solidFill>
                <a:latin typeface="Calibri" pitchFamily="34" charset="0"/>
              </a:rPr>
              <a:t>Patrones Estructurales</a:t>
            </a:r>
          </a:p>
        </p:txBody>
      </p:sp>
      <p:sp>
        <p:nvSpPr>
          <p:cNvPr id="5" name="Sub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50" dirty="0">
                <a:solidFill>
                  <a:srgbClr val="64748B"/>
                </a:solidFill>
                <a:latin typeface="Calibri" pitchFamily="34" charset="0"/>
              </a:rPr>
              <a:t>Definen cómo se organizan y relacionan las clases y objetos.</a:t>
            </a:r>
          </a:p>
        </p:txBody>
      </p:sp>
      <p:sp>
        <p:nvSpPr>
          <p:cNvPr id="6" name="CBg6"/>
          <p:cNvSpPr/>
          <p:nvPr/>
        </p:nvSpPr>
        <p:spPr>
          <a:xfrm>
            <a:off x="36576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Hd7"/>
          <p:cNvSpPr/>
          <p:nvPr/>
        </p:nvSpPr>
        <p:spPr>
          <a:xfrm>
            <a:off x="365760" y="1380000"/>
            <a:ext cx="41148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CNm8"/>
          <p:cNvSpPr/>
          <p:nvPr/>
        </p:nvSpPr>
        <p:spPr>
          <a:xfrm>
            <a:off x="48576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✨  DECORATOR</a:t>
            </a:r>
          </a:p>
        </p:txBody>
      </p:sp>
      <p:sp>
        <p:nvSpPr>
          <p:cNvPr id="9" name="CDf9"/>
          <p:cNvSpPr/>
          <p:nvPr/>
        </p:nvSpPr>
        <p:spPr>
          <a:xfrm>
            <a:off x="48576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Agrega responsabilidades o funcionalidades a un objeto de forma dinámica, sin modificar su clase original. Los decoradores se apilan y combinan entre sí.</a:t>
            </a:r>
          </a:p>
        </p:txBody>
      </p:sp>
      <p:sp>
        <p:nvSpPr>
          <p:cNvPr id="10" name="CWLine10"/>
          <p:cNvSpPr/>
          <p:nvPr/>
        </p:nvSpPr>
        <p:spPr>
          <a:xfrm>
            <a:off x="48576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CWLbl11"/>
          <p:cNvSpPr/>
          <p:nvPr/>
        </p:nvSpPr>
        <p:spPr>
          <a:xfrm>
            <a:off x="48576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0D9488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12" name="CWTxt12"/>
          <p:cNvSpPr/>
          <p:nvPr/>
        </p:nvSpPr>
        <p:spPr>
          <a:xfrm>
            <a:off x="48576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'El café con leche y azúcar: empezó como café negro. Le pusieron leche, luego azúcar. Cada capa añade algo nuevo. El café original no cambió.'</a:t>
            </a:r>
          </a:p>
        </p:txBody>
      </p:sp>
      <p:sp>
        <p:nvSpPr>
          <p:cNvPr id="13" name="CELine13"/>
          <p:cNvSpPr/>
          <p:nvPr/>
        </p:nvSpPr>
        <p:spPr>
          <a:xfrm>
            <a:off x="48576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CEx14"/>
          <p:cNvSpPr/>
          <p:nvPr/>
        </p:nvSpPr>
        <p:spPr>
          <a:xfrm>
            <a:off x="48576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0D9488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Sistema de notificaciones: se parte de NotificaciónBase y se apilan EmailDecorator, SMSDecorator y SlackDecorator sin modificar la clase base.</a:t>
            </a:r>
          </a:p>
        </p:txBody>
      </p:sp>
      <p:sp>
        <p:nvSpPr>
          <p:cNvPr id="15" name="CBg15"/>
          <p:cNvSpPr/>
          <p:nvPr/>
        </p:nvSpPr>
        <p:spPr>
          <a:xfrm>
            <a:off x="466344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CHd16"/>
          <p:cNvSpPr/>
          <p:nvPr/>
        </p:nvSpPr>
        <p:spPr>
          <a:xfrm>
            <a:off x="4663440" y="1380000"/>
            <a:ext cx="41148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CNm17"/>
          <p:cNvSpPr/>
          <p:nvPr/>
        </p:nvSpPr>
        <p:spPr>
          <a:xfrm>
            <a:off x="478344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🌳  COMPOSITE</a:t>
            </a:r>
          </a:p>
        </p:txBody>
      </p:sp>
      <p:sp>
        <p:nvSpPr>
          <p:cNvPr id="18" name="CDf18"/>
          <p:cNvSpPr/>
          <p:nvPr/>
        </p:nvSpPr>
        <p:spPr>
          <a:xfrm>
            <a:off x="478344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Compone objetos en estructuras de árbol para representar jerarquías parte-todo. Permite tratar objetos individuales y colecciones exactamente igual.</a:t>
            </a:r>
          </a:p>
        </p:txBody>
      </p:sp>
      <p:sp>
        <p:nvSpPr>
          <p:cNvPr id="19" name="CWLine19"/>
          <p:cNvSpPr/>
          <p:nvPr/>
        </p:nvSpPr>
        <p:spPr>
          <a:xfrm>
            <a:off x="478344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CWLbl20"/>
          <p:cNvSpPr/>
          <p:nvPr/>
        </p:nvSpPr>
        <p:spPr>
          <a:xfrm>
            <a:off x="478344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0D9488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21" name="CWTxt21"/>
          <p:cNvSpPr/>
          <p:nvPr/>
        </p:nvSpPr>
        <p:spPr>
          <a:xfrm>
            <a:off x="478344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'Como un árbol genealógico: una familia tiene miembros, y cada miembro puede tener su propia familia. Para contar todos, le preguntás a la familia raíz y ella suma todo automáticamente.'</a:t>
            </a:r>
          </a:p>
        </p:txBody>
      </p:sp>
      <p:sp>
        <p:nvSpPr>
          <p:cNvPr id="22" name="CELine22"/>
          <p:cNvSpPr/>
          <p:nvPr/>
        </p:nvSpPr>
        <p:spPr>
          <a:xfrm>
            <a:off x="478344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CEx23"/>
          <p:cNvSpPr/>
          <p:nvPr/>
        </p:nvSpPr>
        <p:spPr>
          <a:xfrm>
            <a:off x="478344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0D9488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Sistema de archivos: una Carpeta contiene Archivos u otras Carpetas. El método calcularTamaño() funciona igual en un archivo suelto que en toda una carpeta.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BadgeTxt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CONDUCTUALES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2800" b="1" dirty="0">
                <a:solidFill>
                  <a:srgbClr val="1E293B"/>
                </a:solidFill>
                <a:latin typeface="Calibri" pitchFamily="34" charset="0"/>
              </a:rPr>
              <a:t>Patrones Conductuales</a:t>
            </a:r>
          </a:p>
        </p:txBody>
      </p:sp>
      <p:sp>
        <p:nvSpPr>
          <p:cNvPr id="5" name="Sub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50" dirty="0">
                <a:solidFill>
                  <a:srgbClr val="64748B"/>
                </a:solidFill>
                <a:latin typeface="Calibri" pitchFamily="34" charset="0"/>
              </a:rPr>
              <a:t>Definen cómo los objetos se comunican y distribuyen responsabilidades.</a:t>
            </a:r>
          </a:p>
        </p:txBody>
      </p:sp>
      <p:sp>
        <p:nvSpPr>
          <p:cNvPr id="6" name="CBg6"/>
          <p:cNvSpPr/>
          <p:nvPr/>
        </p:nvSpPr>
        <p:spPr>
          <a:xfrm>
            <a:off x="36576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Hd7"/>
          <p:cNvSpPr/>
          <p:nvPr/>
        </p:nvSpPr>
        <p:spPr>
          <a:xfrm>
            <a:off x="365760" y="1380000"/>
            <a:ext cx="4114800" cy="40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CNm8"/>
          <p:cNvSpPr/>
          <p:nvPr/>
        </p:nvSpPr>
        <p:spPr>
          <a:xfrm>
            <a:off x="48576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👁  OBSERVER</a:t>
            </a:r>
          </a:p>
        </p:txBody>
      </p:sp>
      <p:sp>
        <p:nvSpPr>
          <p:cNvPr id="9" name="CDf9"/>
          <p:cNvSpPr/>
          <p:nvPr/>
        </p:nvSpPr>
        <p:spPr>
          <a:xfrm>
            <a:off x="48576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Define una dependencia uno-a-muchos: cuando el objeto sujeto cambia de estado, todos sus observadores registrados son notificados y actualizados automáticamente.</a:t>
            </a:r>
          </a:p>
        </p:txBody>
      </p:sp>
      <p:sp>
        <p:nvSpPr>
          <p:cNvPr id="10" name="CWLine10"/>
          <p:cNvSpPr/>
          <p:nvPr/>
        </p:nvSpPr>
        <p:spPr>
          <a:xfrm>
            <a:off x="48576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CWLbl11"/>
          <p:cNvSpPr/>
          <p:nvPr/>
        </p:nvSpPr>
        <p:spPr>
          <a:xfrm>
            <a:off x="48576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7C3AED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12" name="CWTxt12"/>
          <p:cNvSpPr/>
          <p:nvPr/>
        </p:nvSpPr>
        <p:spPr>
          <a:xfrm>
            <a:off x="48576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'Como suscribirse al periódico: cuando sale una edición nueva, llega a su casa automáticamente. Si cancela la suscripción, deja de llegar. El periódico no sabe cuántos suscriptores tiene.'</a:t>
            </a:r>
          </a:p>
        </p:txBody>
      </p:sp>
      <p:sp>
        <p:nvSpPr>
          <p:cNvPr id="13" name="CELine13"/>
          <p:cNvSpPr/>
          <p:nvPr/>
        </p:nvSpPr>
        <p:spPr>
          <a:xfrm>
            <a:off x="48576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CEx14"/>
          <p:cNvSpPr/>
          <p:nvPr/>
        </p:nvSpPr>
        <p:spPr>
          <a:xfrm>
            <a:off x="48576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7C3AED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Canal de YouTube: cuando sube un video, todos los suscriptores reciben la notificación. Agregar nuevos suscriptores no modifica el canal para nada.</a:t>
            </a:r>
          </a:p>
        </p:txBody>
      </p:sp>
      <p:sp>
        <p:nvSpPr>
          <p:cNvPr id="15" name="CBg15"/>
          <p:cNvSpPr/>
          <p:nvPr/>
        </p:nvSpPr>
        <p:spPr>
          <a:xfrm>
            <a:off x="466344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CHd16"/>
          <p:cNvSpPr/>
          <p:nvPr/>
        </p:nvSpPr>
        <p:spPr>
          <a:xfrm>
            <a:off x="4663440" y="1380000"/>
            <a:ext cx="4114800" cy="40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CNm17"/>
          <p:cNvSpPr/>
          <p:nvPr/>
        </p:nvSpPr>
        <p:spPr>
          <a:xfrm>
            <a:off x="478344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🎯  STRATEGY</a:t>
            </a:r>
          </a:p>
        </p:txBody>
      </p:sp>
      <p:sp>
        <p:nvSpPr>
          <p:cNvPr id="18" name="CDf18"/>
          <p:cNvSpPr/>
          <p:nvPr/>
        </p:nvSpPr>
        <p:spPr>
          <a:xfrm>
            <a:off x="478344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Define una familia de algoritmos intercambiables, los encapsula en clases separadas y permite cambiar el algoritmo utilizado en tiempo de ejecución sin alterar el cliente.</a:t>
            </a:r>
          </a:p>
        </p:txBody>
      </p:sp>
      <p:sp>
        <p:nvSpPr>
          <p:cNvPr id="19" name="CWLine19"/>
          <p:cNvSpPr/>
          <p:nvPr/>
        </p:nvSpPr>
        <p:spPr>
          <a:xfrm>
            <a:off x="478344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CWLbl20"/>
          <p:cNvSpPr/>
          <p:nvPr/>
        </p:nvSpPr>
        <p:spPr>
          <a:xfrm>
            <a:off x="478344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7C3AED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21" name="CWTxt21"/>
          <p:cNvSpPr/>
          <p:nvPr/>
        </p:nvSpPr>
        <p:spPr>
          <a:xfrm>
            <a:off x="478344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'Como cambiar de ruta en Waze: el destino es siempre el mismo, pero el camino cambia según el tráfico. Autopista, ruta local o la más rápida — usted elige la estrategia sin cambiar el destino.'</a:t>
            </a:r>
          </a:p>
        </p:txBody>
      </p:sp>
      <p:sp>
        <p:nvSpPr>
          <p:cNvPr id="22" name="CELine22"/>
          <p:cNvSpPr/>
          <p:nvPr/>
        </p:nvSpPr>
        <p:spPr>
          <a:xfrm>
            <a:off x="478344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CEx23"/>
          <p:cNvSpPr/>
          <p:nvPr/>
        </p:nvSpPr>
        <p:spPr>
          <a:xfrm>
            <a:off x="478344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7C3AED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Sistema de pagos: el código principal no cambia. Solo se intercambia la estrategia activa: EstrategiaTargeta, EstrategiaSINPE o EstrategiaPayPal.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657600" cy="36576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92608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Patrones de Diseño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310128"/>
          </a:xfrm>
          <a:prstGeom prst="rect">
            <a:avLst/>
          </a:prstGeom>
          <a:solidFill>
            <a:srgbClr val="1E3A5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33272"/>
            <a:ext cx="2478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609344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727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 la creación de objetos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2231136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94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→ una sola instancia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852928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163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→ fábrica de objetos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3474720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381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→ construcción paso a paso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1005840"/>
            <a:ext cx="2697480" cy="3310128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00584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33272"/>
            <a:ext cx="2478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92424" y="160934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15727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Organizan relaciones entre clases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92424" y="22311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2194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→ traduce interfaces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92424" y="285292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8163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→ simplifica sistemas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92424" y="347472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5304" y="34381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→ agrega funcionalidades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9904" y="1005840"/>
            <a:ext cx="2697480" cy="3310128"/>
          </a:xfrm>
          <a:prstGeom prst="rect">
            <a:avLst/>
          </a:prstGeom>
          <a:solidFill>
            <a:srgbClr val="1E3A5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100584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1033272"/>
            <a:ext cx="2478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Conductuales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54496" y="1609344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15727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Gestionan la comunicación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54496" y="2231136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2194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→ notificaciones automáticas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54496" y="285292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8163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algoritmos intercambiables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54496" y="3474720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34381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→ encapsula acciones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425696"/>
            <a:ext cx="841248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44439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Próximos pasos: Prácticas aplicadas con casos reales en código  ·  CTP San Pedro de Barva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BadgeTxt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CONDUCTUALES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5029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2800" b="1" dirty="0">
                <a:solidFill>
                  <a:srgbClr val="1E293B"/>
                </a:solidFill>
                <a:latin typeface="Calibri" pitchFamily="34" charset="0"/>
              </a:rPr>
              <a:t>Patrones Conductuales</a:t>
            </a:r>
          </a:p>
        </p:txBody>
      </p:sp>
      <p:sp>
        <p:nvSpPr>
          <p:cNvPr id="5" name="Sub"/>
          <p:cNvSpPr/>
          <p:nvPr/>
        </p:nvSpPr>
        <p:spPr>
          <a:xfrm>
            <a:off x="365760" y="11338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50" dirty="0">
                <a:solidFill>
                  <a:srgbClr val="64748B"/>
                </a:solidFill>
                <a:latin typeface="Calibri" pitchFamily="34" charset="0"/>
              </a:rPr>
              <a:t>Definen cómo los objetos se comunican y distribuyen responsabilidades.</a:t>
            </a:r>
          </a:p>
        </p:txBody>
      </p:sp>
      <p:sp>
        <p:nvSpPr>
          <p:cNvPr id="6" name="CBg6"/>
          <p:cNvSpPr/>
          <p:nvPr/>
        </p:nvSpPr>
        <p:spPr>
          <a:xfrm>
            <a:off x="36576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Hd7"/>
          <p:cNvSpPr/>
          <p:nvPr/>
        </p:nvSpPr>
        <p:spPr>
          <a:xfrm>
            <a:off x="365760" y="1380000"/>
            <a:ext cx="4114800" cy="40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CNm8"/>
          <p:cNvSpPr/>
          <p:nvPr/>
        </p:nvSpPr>
        <p:spPr>
          <a:xfrm>
            <a:off x="48576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📌  COMMAND</a:t>
            </a:r>
          </a:p>
        </p:txBody>
      </p:sp>
      <p:sp>
        <p:nvSpPr>
          <p:cNvPr id="9" name="CDf9"/>
          <p:cNvSpPr/>
          <p:nvPr/>
        </p:nvSpPr>
        <p:spPr>
          <a:xfrm>
            <a:off x="48576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Encapsula una solicitud como un objeto independiente, permitiendo hacer cola de operaciones, registrar historial o implementar Deshacer/Rehacer (Undo/Redo).</a:t>
            </a:r>
          </a:p>
        </p:txBody>
      </p:sp>
      <p:sp>
        <p:nvSpPr>
          <p:cNvPr id="10" name="CWLine10"/>
          <p:cNvSpPr/>
          <p:nvPr/>
        </p:nvSpPr>
        <p:spPr>
          <a:xfrm>
            <a:off x="48576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CWLbl11"/>
          <p:cNvSpPr/>
          <p:nvPr/>
        </p:nvSpPr>
        <p:spPr>
          <a:xfrm>
            <a:off x="48576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7C3AED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12" name="CWTxt12"/>
          <p:cNvSpPr/>
          <p:nvPr/>
        </p:nvSpPr>
        <p:spPr>
          <a:xfrm>
            <a:off x="48576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'Como una comanda de restaurante: el mesero anota cada pedido en un papel separado. Si el cliente se arrepiente, el mesero cancela esa comanda antes de que llegue a la cocina.'</a:t>
            </a:r>
          </a:p>
        </p:txBody>
      </p:sp>
      <p:sp>
        <p:nvSpPr>
          <p:cNvPr id="13" name="CELine13"/>
          <p:cNvSpPr/>
          <p:nvPr/>
        </p:nvSpPr>
        <p:spPr>
          <a:xfrm>
            <a:off x="48576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CEx14"/>
          <p:cNvSpPr/>
          <p:nvPr/>
        </p:nvSpPr>
        <p:spPr>
          <a:xfrm>
            <a:off x="48576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7C3AED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El Ctrl+Z en editores de texto: cada acción del usuario se guarda como un objeto Command. Deshacer ejecuta el método undo() del último comando en la pila.</a:t>
            </a:r>
          </a:p>
        </p:txBody>
      </p:sp>
      <p:sp>
        <p:nvSpPr>
          <p:cNvPr id="15" name="CBg15"/>
          <p:cNvSpPr/>
          <p:nvPr/>
        </p:nvSpPr>
        <p:spPr>
          <a:xfrm>
            <a:off x="4663440" y="1380000"/>
            <a:ext cx="4114800" cy="3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CHd16"/>
          <p:cNvSpPr/>
          <p:nvPr/>
        </p:nvSpPr>
        <p:spPr>
          <a:xfrm>
            <a:off x="4663440" y="1380000"/>
            <a:ext cx="4114800" cy="40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CNm17"/>
          <p:cNvSpPr/>
          <p:nvPr/>
        </p:nvSpPr>
        <p:spPr>
          <a:xfrm>
            <a:off x="4783440" y="1380000"/>
            <a:ext cx="3874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s-419" sz="1350" b="1" dirty="0">
                <a:solidFill>
                  <a:srgbClr val="FFFFFF"/>
                </a:solidFill>
                <a:latin typeface="Calibri" pitchFamily="34" charset="0"/>
              </a:rPr>
              <a:t>🔄  STATE</a:t>
            </a:r>
          </a:p>
        </p:txBody>
      </p:sp>
      <p:sp>
        <p:nvSpPr>
          <p:cNvPr id="18" name="CDf18"/>
          <p:cNvSpPr/>
          <p:nvPr/>
        </p:nvSpPr>
        <p:spPr>
          <a:xfrm>
            <a:off x="4783440" y="1860000"/>
            <a:ext cx="38748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100" dirty="0">
                <a:solidFill>
                  <a:srgbClr val="1E293B"/>
                </a:solidFill>
                <a:latin typeface="Calibri" pitchFamily="34" charset="0"/>
              </a:rPr>
              <a:t>Permite a un objeto alterar su comportamiento cuando su estado interno cambia. El objeto delega el comportamiento al estado actual, pareciendo cambiar de clase.</a:t>
            </a:r>
          </a:p>
        </p:txBody>
      </p:sp>
      <p:sp>
        <p:nvSpPr>
          <p:cNvPr id="19" name="CWLine19"/>
          <p:cNvSpPr/>
          <p:nvPr/>
        </p:nvSpPr>
        <p:spPr>
          <a:xfrm>
            <a:off x="4783440" y="29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CWLbl20"/>
          <p:cNvSpPr/>
          <p:nvPr/>
        </p:nvSpPr>
        <p:spPr>
          <a:xfrm>
            <a:off x="4783440" y="3015000"/>
            <a:ext cx="38748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950" b="1" dirty="0">
                <a:solidFill>
                  <a:srgbClr val="7C3AED"/>
                </a:solidFill>
                <a:latin typeface="Calibri" pitchFamily="34" charset="0"/>
              </a:rPr>
              <a:t>La analogía:</a:t>
            </a:r>
          </a:p>
        </p:txBody>
      </p:sp>
      <p:sp>
        <p:nvSpPr>
          <p:cNvPr id="21" name="CWTxt21"/>
          <p:cNvSpPr/>
          <p:nvPr/>
        </p:nvSpPr>
        <p:spPr>
          <a:xfrm>
            <a:off x="4783440" y="3245000"/>
            <a:ext cx="3874800" cy="46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dirty="0">
                <a:solidFill>
                  <a:srgbClr val="64748B"/>
                </a:solidFill>
                <a:latin typeface="Calibri" pitchFamily="34" charset="0"/>
              </a:rPr>
              <a:t>'Como el agua: sólida, líquida o gaseosa. Es la misma molécula H2O, pero su comportamiento cambia completamente según el estado en que se encuentre.'</a:t>
            </a:r>
          </a:p>
        </p:txBody>
      </p:sp>
      <p:sp>
        <p:nvSpPr>
          <p:cNvPr id="22" name="CELine22"/>
          <p:cNvSpPr/>
          <p:nvPr/>
        </p:nvSpPr>
        <p:spPr>
          <a:xfrm>
            <a:off x="4783440" y="3790000"/>
            <a:ext cx="3874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CEx23"/>
          <p:cNvSpPr/>
          <p:nvPr/>
        </p:nvSpPr>
        <p:spPr>
          <a:xfrm>
            <a:off x="4783440" y="3815000"/>
            <a:ext cx="3874800" cy="10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s-419" sz="1000" b="1" dirty="0">
                <a:solidFill>
                  <a:srgbClr val="7C3AED"/>
                </a:solidFill>
                <a:latin typeface="Calibri" pitchFamily="34" charset="0"/>
              </a:rPr>
              <a:t>Ejemplo en programación:</a:t>
            </a:r>
          </a:p>
          <a:p>
            <a:pPr algn="l" indent="0" marL="0">
              <a:buNone/>
            </a:pPr>
            <a:r>
              <a:rPr lang="es-419" sz="1000" i="1" dirty="0">
                <a:solidFill>
                  <a:srgbClr val="64748B"/>
                </a:solidFill>
                <a:latin typeface="Calibri" pitchFamily="34" charset="0"/>
              </a:rPr>
              <a:t>Semáforo: en estado Rojo ejecuta detener(), en Amarillo ejecuta precaucion() y en Verde ejecuta avanzar(). Cada estado encapsula su comportamiento.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Basado en Patrones</dc:title>
  <dc:subject>PptxGenJS Presentation</dc:subject>
  <dc:creator>PptxGenJS</dc:creator>
  <cp:lastModifiedBy>PptxGenJS</cp:lastModifiedBy>
  <cp:revision>1</cp:revision>
  <dcterms:created xsi:type="dcterms:W3CDTF">2026-05-04T14:20:24Z</dcterms:created>
  <dcterms:modified xsi:type="dcterms:W3CDTF">2026-05-04T14:20:24Z</dcterms:modified>
</cp:coreProperties>
</file>